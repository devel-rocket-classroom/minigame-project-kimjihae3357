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8" r:id="rId4"/>
    <p:sldId id="259" r:id="rId5"/>
    <p:sldId id="275" r:id="rId6"/>
    <p:sldId id="260" r:id="rId7"/>
    <p:sldId id="273" r:id="rId8"/>
    <p:sldId id="262" r:id="rId9"/>
    <p:sldId id="263" r:id="rId10"/>
    <p:sldId id="264" r:id="rId11"/>
    <p:sldId id="265" r:id="rId12"/>
    <p:sldId id="274" r:id="rId13"/>
    <p:sldId id="267" r:id="rId14"/>
    <p:sldId id="272" r:id="rId15"/>
    <p:sldId id="270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1E1"/>
    <a:srgbClr val="AEC585"/>
    <a:srgbClr val="8FAE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9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9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359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757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10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3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788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microsoft.com/office/2007/relationships/hdphoto" Target="../media/hdphoto5.wdp"/><Relationship Id="rId2" Type="http://schemas.openxmlformats.org/officeDocument/2006/relationships/notesSlide" Target="../notesSlides/notesSlide5.xml"/><Relationship Id="rId16" Type="http://schemas.microsoft.com/office/2007/relationships/hdphoto" Target="../media/hdphoto7.wdp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5.png"/><Relationship Id="rId14" Type="http://schemas.microsoft.com/office/2007/relationships/hdphoto" Target="../media/hdphoto6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21.png"/><Relationship Id="rId5" Type="http://schemas.openxmlformats.org/officeDocument/2006/relationships/image" Target="../media/image19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0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gif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8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773410"/>
            <a:ext cx="12188952" cy="208459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66928" y="4483380"/>
            <a:ext cx="10058400" cy="10030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1.0.0</a:t>
            </a:r>
            <a:endParaRPr lang="en-US" sz="1400" dirty="0"/>
          </a:p>
        </p:txBody>
      </p:sp>
      <p:pic>
        <p:nvPicPr>
          <p:cNvPr id="10" name="그림 9" descr="폰트, 그래픽, 타이포그래피, 로고이(가) 표시된 사진&#10;&#10;자동 생성된 설명">
            <a:extLst>
              <a:ext uri="{FF2B5EF4-FFF2-40B4-BE49-F238E27FC236}">
                <a16:creationId xmlns:a16="http://schemas.microsoft.com/office/drawing/2014/main" id="{1C0F649F-12F4-D429-A9F0-C1F883B10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4311" y="842799"/>
            <a:ext cx="5890562" cy="2945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</a:t>
            </a:r>
            <a:r>
              <a:rPr lang="en-US" sz="1000" dirty="0" smtClean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3주 </a:t>
            </a: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55080" y="4666803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556248" y="4785675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6556248" y="47856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141464" y="4749099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7141464" y="5059995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Video</a:t>
            </a:r>
            <a:endParaRPr lang="en-US" altLang="ko-KR" sz="1000" dirty="0"/>
          </a:p>
        </p:txBody>
      </p:sp>
      <p:sp>
        <p:nvSpPr>
          <p:cNvPr id="64" name="Text 6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67" name="Shape 57"/>
          <p:cNvSpPr/>
          <p:nvPr/>
        </p:nvSpPr>
        <p:spPr>
          <a:xfrm>
            <a:off x="6364224" y="544068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58"/>
          <p:cNvSpPr/>
          <p:nvPr/>
        </p:nvSpPr>
        <p:spPr>
          <a:xfrm>
            <a:off x="6565392" y="555955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59"/>
          <p:cNvSpPr/>
          <p:nvPr/>
        </p:nvSpPr>
        <p:spPr>
          <a:xfrm>
            <a:off x="6565392" y="5559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70" name="Text 60"/>
          <p:cNvSpPr/>
          <p:nvPr/>
        </p:nvSpPr>
        <p:spPr>
          <a:xfrm>
            <a:off x="7150608" y="55229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향후 과제</a:t>
            </a:r>
            <a:endParaRPr lang="en-US" sz="1500" dirty="0"/>
          </a:p>
        </p:txBody>
      </p:sp>
      <p:sp>
        <p:nvSpPr>
          <p:cNvPr id="71" name="Text 61"/>
          <p:cNvSpPr/>
          <p:nvPr/>
        </p:nvSpPr>
        <p:spPr>
          <a:xfrm>
            <a:off x="7150608" y="58338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· Future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469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</a:t>
            </a:r>
            <a:r>
              <a:rPr lang="en-US" sz="1100" dirty="0" err="1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잔잔하고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79265" y="3154680"/>
            <a:ext cx="39871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</a:t>
            </a: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디자인으로 진입장벽 낮음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모험과 발견 중심의 확장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곳으로 이동을 하거나 포탈을 통한 탐험 시스템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pic>
        <p:nvPicPr>
          <p:cNvPr id="41" name="그림 40" descr="텍스트, 스크린샷, 지도이(가) 표시된 사진&#10;&#10;자동 생성된 설명">
            <a:extLst>
              <a:ext uri="{FF2B5EF4-FFF2-40B4-BE49-F238E27FC236}">
                <a16:creationId xmlns:a16="http://schemas.microsoft.com/office/drawing/2014/main" id="{5AB61DDA-9D03-C95D-5095-DF4329418B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00" y="2381635"/>
            <a:ext cx="4413096" cy="24829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3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904488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pic>
        <p:nvPicPr>
          <p:cNvPr id="44" name="Image 2" descr="img/card_campfire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411251" y="3886200"/>
            <a:ext cx="950976" cy="95097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66928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 smtClean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종류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566928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정령 카드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4609623"/>
            <a:ext cx="1273797" cy="389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 err="1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</a:t>
            </a:r>
            <a:endParaRPr lang="en-US" sz="1050" dirty="0" smtClean="0">
              <a:solidFill>
                <a:srgbClr val="6B6A5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배고픔 수치</a:t>
            </a:r>
            <a:r>
              <a:rPr lang="en-US" altLang="ko-KR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공격력</a:t>
            </a:r>
            <a:r>
              <a:rPr lang="en-US" altLang="ko-KR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체력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Shape 7"/>
          <p:cNvSpPr/>
          <p:nvPr/>
        </p:nvSpPr>
        <p:spPr>
          <a:xfrm>
            <a:off x="2185521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9" name="Text 9"/>
          <p:cNvSpPr/>
          <p:nvPr/>
        </p:nvSpPr>
        <p:spPr>
          <a:xfrm>
            <a:off x="2185521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카드</a:t>
            </a:r>
            <a:endParaRPr lang="en-US" sz="1450" dirty="0"/>
          </a:p>
        </p:txBody>
      </p:sp>
      <p:sp>
        <p:nvSpPr>
          <p:cNvPr id="80" name="Text 10"/>
          <p:cNvSpPr/>
          <p:nvPr/>
        </p:nvSpPr>
        <p:spPr>
          <a:xfrm>
            <a:off x="2276961" y="4609623"/>
            <a:ext cx="1273797" cy="389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</a:t>
            </a:r>
            <a:r>
              <a:rPr lang="en-US" altLang="ko-KR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</a:t>
            </a:r>
            <a:endParaRPr lang="en-US" sz="1050" dirty="0"/>
          </a:p>
        </p:txBody>
      </p:sp>
      <p:sp>
        <p:nvSpPr>
          <p:cNvPr id="81" name="Shape 7"/>
          <p:cNvSpPr/>
          <p:nvPr/>
        </p:nvSpPr>
        <p:spPr>
          <a:xfrm>
            <a:off x="3804112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 9"/>
          <p:cNvSpPr/>
          <p:nvPr/>
        </p:nvSpPr>
        <p:spPr>
          <a:xfrm>
            <a:off x="3804112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카드</a:t>
            </a:r>
            <a:endParaRPr lang="en-US" sz="1450" dirty="0"/>
          </a:p>
        </p:txBody>
      </p:sp>
      <p:sp>
        <p:nvSpPr>
          <p:cNvPr id="84" name="Shape 7"/>
          <p:cNvSpPr/>
          <p:nvPr/>
        </p:nvSpPr>
        <p:spPr>
          <a:xfrm>
            <a:off x="5422701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5" name="Text 9"/>
          <p:cNvSpPr/>
          <p:nvPr/>
        </p:nvSpPr>
        <p:spPr>
          <a:xfrm>
            <a:off x="5422701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채집물</a:t>
            </a: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</a:t>
            </a:r>
            <a:endParaRPr lang="en-US" sz="1450" dirty="0"/>
          </a:p>
        </p:txBody>
      </p:sp>
      <p:sp>
        <p:nvSpPr>
          <p:cNvPr id="86" name="Text 10"/>
          <p:cNvSpPr/>
          <p:nvPr/>
        </p:nvSpPr>
        <p:spPr>
          <a:xfrm>
            <a:off x="5514141" y="4609623"/>
            <a:ext cx="1273797" cy="389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050" dirty="0" err="1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채집횟수</a:t>
            </a:r>
            <a:endParaRPr lang="en-US" sz="1050" dirty="0"/>
          </a:p>
        </p:txBody>
      </p:sp>
      <p:sp>
        <p:nvSpPr>
          <p:cNvPr id="87" name="Shape 7"/>
          <p:cNvSpPr/>
          <p:nvPr/>
        </p:nvSpPr>
        <p:spPr>
          <a:xfrm>
            <a:off x="7041288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8" name="Text 9"/>
          <p:cNvSpPr/>
          <p:nvPr/>
        </p:nvSpPr>
        <p:spPr>
          <a:xfrm>
            <a:off x="7041288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카드</a:t>
            </a:r>
            <a:endParaRPr lang="en-US" sz="1450" dirty="0"/>
          </a:p>
        </p:txBody>
      </p:sp>
      <p:sp>
        <p:nvSpPr>
          <p:cNvPr id="90" name="Shape 7"/>
          <p:cNvSpPr/>
          <p:nvPr/>
        </p:nvSpPr>
        <p:spPr>
          <a:xfrm>
            <a:off x="8659873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9"/>
          <p:cNvSpPr/>
          <p:nvPr/>
        </p:nvSpPr>
        <p:spPr>
          <a:xfrm>
            <a:off x="8659873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하트 카드</a:t>
            </a:r>
            <a:endParaRPr lang="en-US" sz="1450" dirty="0"/>
          </a:p>
        </p:txBody>
      </p:sp>
      <p:sp>
        <p:nvSpPr>
          <p:cNvPr id="92" name="Text 10"/>
          <p:cNvSpPr/>
          <p:nvPr/>
        </p:nvSpPr>
        <p:spPr>
          <a:xfrm>
            <a:off x="8751313" y="4609623"/>
            <a:ext cx="1273797" cy="389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회복</a:t>
            </a:r>
            <a:endParaRPr lang="en-US" sz="1050" dirty="0"/>
          </a:p>
        </p:txBody>
      </p:sp>
      <p:sp>
        <p:nvSpPr>
          <p:cNvPr id="93" name="Shape 7"/>
          <p:cNvSpPr/>
          <p:nvPr/>
        </p:nvSpPr>
        <p:spPr>
          <a:xfrm>
            <a:off x="10278456" y="2198344"/>
            <a:ext cx="1403776" cy="1722225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"/>
          <p:cNvSpPr/>
          <p:nvPr/>
        </p:nvSpPr>
        <p:spPr>
          <a:xfrm>
            <a:off x="10278456" y="4235246"/>
            <a:ext cx="1403778" cy="23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동전 카드</a:t>
            </a:r>
            <a:endParaRPr lang="en-US" sz="1450" dirty="0"/>
          </a:p>
        </p:txBody>
      </p:sp>
      <p:sp>
        <p:nvSpPr>
          <p:cNvPr id="95" name="Text 10"/>
          <p:cNvSpPr/>
          <p:nvPr/>
        </p:nvSpPr>
        <p:spPr>
          <a:xfrm>
            <a:off x="10369896" y="4609623"/>
            <a:ext cx="1273797" cy="389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0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게임내 재화</a:t>
            </a:r>
            <a:endParaRPr lang="en-US" sz="1050" dirty="0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036" b="94964" l="4808" r="92308">
                        <a14:foregroundMark x1="32692" y1="36691" x2="91346" y2="87770"/>
                        <a14:foregroundMark x1="11538" y1="15827" x2="6731" y2="302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040" y="2444692"/>
            <a:ext cx="990738" cy="1324160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08" b="98496" l="7407" r="9444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7339" y="2401449"/>
            <a:ext cx="1028844" cy="1267002"/>
          </a:xfrm>
          <a:prstGeom prst="rect">
            <a:avLst/>
          </a:prstGeom>
        </p:spPr>
      </p:pic>
      <p:pic>
        <p:nvPicPr>
          <p:cNvPr id="96" name="그림 95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704" b="95556" l="1980" r="9604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4920" y="2434716"/>
            <a:ext cx="962159" cy="1286054"/>
          </a:xfrm>
          <a:prstGeom prst="rect">
            <a:avLst/>
          </a:prstGeom>
        </p:spPr>
      </p:pic>
      <p:pic>
        <p:nvPicPr>
          <p:cNvPr id="97" name="그림 96"/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000" b="98000" l="4808" r="9615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4975" y="2583138"/>
            <a:ext cx="990738" cy="952633"/>
          </a:xfrm>
          <a:prstGeom prst="rect">
            <a:avLst/>
          </a:prstGeom>
        </p:spPr>
      </p:pic>
      <p:pic>
        <p:nvPicPr>
          <p:cNvPr id="98" name="그림 97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3704" b="94815" l="7000" r="96000">
                        <a14:foregroundMark x1="72000" y1="31852" x2="72000" y2="31852"/>
                        <a14:foregroundMark x1="78000" y1="28148" x2="79000" y2="65185"/>
                        <a14:foregroundMark x1="27000" y1="35556" x2="18000" y2="85926"/>
                        <a14:foregroundMark x1="45000" y1="45185" x2="28000" y2="9630"/>
                        <a14:foregroundMark x1="74000" y1="18519" x2="73000" y2="4444"/>
                        <a14:foregroundMark x1="14000" y1="82963" x2="21000" y2="94074"/>
                        <a14:foregroundMark x1="23000" y1="50370" x2="94000" y2="90370"/>
                        <a14:foregroundMark x1="29000" y1="82222" x2="22000" y2="80741"/>
                        <a14:foregroundMark x1="64000" y1="87407" x2="42000" y2="77037"/>
                        <a14:foregroundMark x1="38000" y1="85926" x2="62000" y2="70370"/>
                        <a14:foregroundMark x1="35000" y1="67407" x2="70000" y2="85185"/>
                        <a14:foregroundMark x1="21000" y1="35556" x2="7000" y2="28148"/>
                        <a14:foregroundMark x1="62000" y1="22963" x2="89000" y2="5185"/>
                        <a14:foregroundMark x1="90000" y1="33333" x2="96000" y2="33333"/>
                        <a14:foregroundMark x1="82000" y1="71111" x2="96000" y2="68889"/>
                        <a14:foregroundMark x1="39000" y1="82222" x2="36000" y2="94074"/>
                        <a14:foregroundMark x1="72000" y1="73333" x2="74000" y2="93333"/>
                        <a14:foregroundMark x1="59000" y1="91852" x2="70000" y2="94815"/>
                        <a14:foregroundMark x1="42000" y1="12593" x2="15000" y2="3704"/>
                        <a14:foregroundMark x1="62000" y1="17778" x2="96000" y2="11852"/>
                        <a14:foregroundMark x1="88000" y1="41481" x2="96000" y2="44444"/>
                        <a14:backgroundMark x1="2000" y1="12593" x2="6000" y2="148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499" y="2439555"/>
            <a:ext cx="952633" cy="1286054"/>
          </a:xfrm>
          <a:prstGeom prst="rect">
            <a:avLst/>
          </a:prstGeom>
        </p:spPr>
      </p:pic>
      <p:pic>
        <p:nvPicPr>
          <p:cNvPr id="99" name="그림 98"/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2878" b="96403" l="8257" r="9357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991" y="2401449"/>
            <a:ext cx="1038370" cy="1324160"/>
          </a:xfrm>
          <a:prstGeom prst="rect">
            <a:avLst/>
          </a:prstGeom>
        </p:spPr>
      </p:pic>
      <p:pic>
        <p:nvPicPr>
          <p:cNvPr id="100" name="그림 99"/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4730" b="93919" l="8696" r="92174">
                        <a14:foregroundMark x1="36522" y1="71622" x2="21739" y2="837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825" y="2354507"/>
            <a:ext cx="1095528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890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</a:t>
            </a:r>
            <a:r>
              <a:rPr 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b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배분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게임오버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</a:t>
            </a: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속성별 </a:t>
            </a:r>
            <a:r>
              <a:rPr lang="ko-KR" alt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스탯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차별화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18  ~  06. 08   ·   약 3주 개발 (3단계)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3474720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8638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05.18 ~ 05.24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638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시스템 구축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데이터 구조 · PlayerInput 입력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 ·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제어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조합 · 채집 · 자동 스택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 · 하루 사이클 · 식량/게임오버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6168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6168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361688" y="2240280"/>
            <a:ext cx="3474720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58114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8114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05.25 ~ 05.31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8114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1772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시스템 구현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</a:t>
            </a:r>
            <a:r>
              <a:rPr lang="ko-KR" alt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주민 속성 시스템 추가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5644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644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6448" y="2240280"/>
            <a:ext cx="3474720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7590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7590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06.01 ~ 06.08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7590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· 완성도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1248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씬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제약 · 최대 개수 · 창고 확장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 및 디자인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96411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</a:t>
            </a:r>
            <a:r>
              <a:rPr lang="en-US" altLang="ko-KR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</a:t>
            </a:r>
            <a:r>
              <a:rPr lang="en-US" sz="130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495894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495894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495894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495894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66928" y="4709160"/>
            <a:ext cx="7040880" cy="146304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909730"/>
            <a:ext cx="1067939" cy="96252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834288"/>
            <a:ext cx="5303520" cy="1155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참여하지 못하며, 3일이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지나면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07527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14842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44103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87994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295309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24570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68461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75776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05037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48928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56243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85504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29395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36711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65971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  <p:sp>
        <p:nvSpPr>
          <p:cNvPr id="43" name="Text 6"/>
          <p:cNvSpPr/>
          <p:nvPr/>
        </p:nvSpPr>
        <p:spPr>
          <a:xfrm>
            <a:off x="717647" y="3616034"/>
            <a:ext cx="749808" cy="5486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배고픔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1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체력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5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  <a:endParaRPr lang="en-US" sz="900" dirty="0"/>
          </a:p>
        </p:txBody>
      </p:sp>
      <p:sp>
        <p:nvSpPr>
          <p:cNvPr id="44" name="Text 6"/>
          <p:cNvSpPr/>
          <p:nvPr/>
        </p:nvSpPr>
        <p:spPr>
          <a:xfrm>
            <a:off x="1253031" y="3616034"/>
            <a:ext cx="963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속도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:1</a:t>
            </a:r>
          </a:p>
          <a:p>
            <a:pPr marL="0" indent="0">
              <a:buNone/>
            </a:pPr>
            <a:r>
              <a:rPr lang="ko-KR" altLang="en-US" sz="900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공격간격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  <a:endParaRPr lang="en-US" sz="900" dirty="0"/>
          </a:p>
        </p:txBody>
      </p:sp>
      <p:sp>
        <p:nvSpPr>
          <p:cNvPr id="45" name="Text 6"/>
          <p:cNvSpPr/>
          <p:nvPr/>
        </p:nvSpPr>
        <p:spPr>
          <a:xfrm>
            <a:off x="2524739" y="3616034"/>
            <a:ext cx="749808" cy="5486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배고픔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체력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5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4</a:t>
            </a:r>
            <a:endParaRPr lang="en-US" sz="900" dirty="0"/>
          </a:p>
        </p:txBody>
      </p:sp>
      <p:sp>
        <p:nvSpPr>
          <p:cNvPr id="46" name="Text 6"/>
          <p:cNvSpPr/>
          <p:nvPr/>
        </p:nvSpPr>
        <p:spPr>
          <a:xfrm>
            <a:off x="3060123" y="3616034"/>
            <a:ext cx="963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속도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0.5</a:t>
            </a:r>
          </a:p>
          <a:p>
            <a:pPr marL="0" indent="0">
              <a:buNone/>
            </a:pPr>
            <a:r>
              <a:rPr lang="ko-KR" altLang="en-US" sz="900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공격간격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1.8</a:t>
            </a:r>
            <a:endParaRPr lang="en-US" sz="900" dirty="0"/>
          </a:p>
        </p:txBody>
      </p:sp>
      <p:sp>
        <p:nvSpPr>
          <p:cNvPr id="52" name="Text 6"/>
          <p:cNvSpPr/>
          <p:nvPr/>
        </p:nvSpPr>
        <p:spPr>
          <a:xfrm>
            <a:off x="4333990" y="3616034"/>
            <a:ext cx="749808" cy="5486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배고픔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체력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7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1</a:t>
            </a:r>
            <a:endParaRPr lang="en-US" sz="900" dirty="0"/>
          </a:p>
        </p:txBody>
      </p:sp>
      <p:sp>
        <p:nvSpPr>
          <p:cNvPr id="53" name="Text 6"/>
          <p:cNvSpPr/>
          <p:nvPr/>
        </p:nvSpPr>
        <p:spPr>
          <a:xfrm>
            <a:off x="4869374" y="3616034"/>
            <a:ext cx="963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속도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:1.5</a:t>
            </a:r>
          </a:p>
          <a:p>
            <a:pPr marL="0" indent="0">
              <a:buNone/>
            </a:pPr>
            <a:r>
              <a:rPr lang="ko-KR" altLang="en-US" sz="900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공격간격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  <a:endParaRPr lang="en-US" sz="900" dirty="0"/>
          </a:p>
        </p:txBody>
      </p:sp>
      <p:sp>
        <p:nvSpPr>
          <p:cNvPr id="55" name="Text 6"/>
          <p:cNvSpPr/>
          <p:nvPr/>
        </p:nvSpPr>
        <p:spPr>
          <a:xfrm>
            <a:off x="6149069" y="3616034"/>
            <a:ext cx="749808" cy="5486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배고픔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체력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10</a:t>
            </a:r>
          </a:p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공격력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  <a:endParaRPr lang="en-US" sz="900" dirty="0"/>
          </a:p>
        </p:txBody>
      </p:sp>
      <p:sp>
        <p:nvSpPr>
          <p:cNvPr id="56" name="Text 6"/>
          <p:cNvSpPr/>
          <p:nvPr/>
        </p:nvSpPr>
        <p:spPr>
          <a:xfrm>
            <a:off x="6684453" y="3616034"/>
            <a:ext cx="963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속도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:1</a:t>
            </a:r>
          </a:p>
          <a:p>
            <a:pPr marL="0" indent="0">
              <a:buNone/>
            </a:pPr>
            <a:r>
              <a:rPr lang="ko-KR" altLang="en-US" sz="900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공격간격</a:t>
            </a:r>
            <a:r>
              <a:rPr lang="en-US" altLang="ko-KR" sz="900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: 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</a:t>
            </a:r>
            <a:r>
              <a:rPr lang="en-US" sz="13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이어지는</a:t>
            </a: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레시피를 </a:t>
            </a:r>
            <a:r>
              <a:rPr lang="en-US" sz="13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추가했다</a:t>
            </a: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</a:rPr>
              <a:t>레시피마다 다른 이펙트 연출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lang="en-US" sz="1300" b="1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차별점인가</a:t>
            </a:r>
            <a:endParaRPr lang="en-US" sz="1300" b="1" dirty="0">
              <a:solidFill>
                <a:srgbClr val="8FAE5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게임을 </a:t>
            </a:r>
            <a:r>
              <a:rPr lang="ko-KR" altLang="en-US" sz="14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했을적에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ProgressBar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멍하니 지켜보던 시간이 많았고</a:t>
            </a:r>
            <a:r>
              <a:rPr lang="en-US" altLang="ko-KR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좀더 시각적인 재미를 주면 좋겠다고 생각했습니다</a:t>
            </a:r>
            <a:r>
              <a:rPr lang="en-US" altLang="ko-KR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 algn="l">
              <a:buNone/>
            </a:pPr>
            <a:endParaRPr lang="en-US" altLang="ko-KR" sz="1400" dirty="0">
              <a:solidFill>
                <a:srgbClr val="E7DEC4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lang="en-US" altLang="ko-KR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무슨</a:t>
            </a:r>
            <a:r>
              <a:rPr 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작업인지 한눈에 보이고, </a:t>
            </a:r>
            <a:r>
              <a:rPr 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타격감과</a:t>
            </a:r>
            <a:r>
              <a:rPr 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시각적 재미를 </a:t>
            </a:r>
            <a:r>
              <a:rPr lang="ko-KR" alt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극대화시킨다</a:t>
            </a:r>
            <a:r>
              <a:rPr lang="en-US" altLang="ko-KR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b="1" dirty="0">
              <a:solidFill>
                <a:srgbClr val="AEC585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8928" y="1711946"/>
            <a:ext cx="1251496" cy="173332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83342" y="1716461"/>
            <a:ext cx="1302940" cy="180457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78457" y="4101566"/>
            <a:ext cx="1274254" cy="17648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636211" y="4123763"/>
            <a:ext cx="1299044" cy="179917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레시피와 연관된</a:t>
            </a:r>
            <a:r>
              <a:rPr lang="en-US" sz="130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</a:t>
            </a: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이펙트가 나온다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750808" y="1700784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데이터 구조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9340596" y="2121408"/>
            <a:ext cx="1691640" cy="457200"/>
          </a:xfrm>
          <a:prstGeom prst="roundRect">
            <a:avLst>
              <a:gd name="adj" fmla="val 20000"/>
            </a:avLst>
          </a:prstGeom>
          <a:solidFill>
            <a:srgbClr val="E0A23A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9340596" y="21214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50808" y="2560320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9D4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· ScriptableObject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750808" y="2724912"/>
            <a:ext cx="2871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 상속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915400" y="2999232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8915400" y="2999232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10268712" y="2999232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10268712" y="2999232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8915400" y="3493008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8915400" y="3493008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10268712" y="3493008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10268712" y="3493008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Heart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915400" y="3986784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/>
          <p:nvPr/>
        </p:nvSpPr>
        <p:spPr>
          <a:xfrm>
            <a:off x="8915400" y="398678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Food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10268712" y="3986784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10268712" y="398678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750808" y="4425696"/>
            <a:ext cx="2871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 카드 UI로 묶임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9006840" y="4681728"/>
            <a:ext cx="2359152" cy="420624"/>
          </a:xfrm>
          <a:prstGeom prst="roundRect">
            <a:avLst>
              <a:gd name="adj" fmla="val 21739"/>
            </a:avLst>
          </a:prstGeom>
          <a:solidFill>
            <a:srgbClr val="8FAE5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/>
          <p:nvPr/>
        </p:nvSpPr>
        <p:spPr>
          <a:xfrm>
            <a:off x="9006840" y="4681728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915400" y="5138928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Coin·Heart·Resource·Source 를 </a:t>
            </a:r>
            <a:r>
              <a:rPr lang="en-US" sz="850" dirty="0" err="1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50" dirty="0" err="1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850" dirty="0">
              <a:solidFill>
                <a:srgbClr val="C9D4B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</a:rPr>
              <a:t>카드에 표시되는 정보의 따라 분리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(Food·Building 등은 각자 전용 UI)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2638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Video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959" y="1875308"/>
            <a:ext cx="3218793" cy="321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26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 · FUTURE WORK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추가하고 싶은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5340096" cy="420624"/>
          </a:xfrm>
          <a:prstGeom prst="rect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6968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9536" y="2505456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5953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연동 부재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초반에 CSV·구글 시트를 연동했다면, </a:t>
            </a:r>
            <a:r>
              <a:rPr 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친화적으로</a:t>
            </a: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밸런스 수치 조정이 훨씬 편했을 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9536" y="371246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로컬라이징 미고려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81328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스트링 테이블로 분리하지 않아, 다국어(로컬라이징) 확장을 초기에 고려하지 못함.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81344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81344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181344" y="1883664"/>
            <a:ext cx="5340096" cy="420624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501384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추가하고 싶은 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01384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739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95744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이동 · 포탈 탐험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095744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레퍼런스(Stacklands)에서 재밌었던 요소 — 포탈로 다른 지역에 가서 탐험하는 콘텐츠.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95744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 시스템 확장 가능성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095744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태풍날씨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카드가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흔들릴때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 속성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정령카드를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올려놓으면 흔들림이 멈춤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395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30">
            <a:extLst>
              <a:ext uri="{FF2B5EF4-FFF2-40B4-BE49-F238E27FC236}">
                <a16:creationId xmlns:a16="http://schemas.microsoft.com/office/drawing/2014/main" id="{44FEAE3F-FF2D-BC7C-B7FD-F1B0CA024C43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31">
            <a:extLst>
              <a:ext uri="{FF2B5EF4-FFF2-40B4-BE49-F238E27FC236}">
                <a16:creationId xmlns:a16="http://schemas.microsoft.com/office/drawing/2014/main" id="{13032460-1017-EFFB-BDDC-6754D176BFA0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22" name="Text 32">
            <a:extLst>
              <a:ext uri="{FF2B5EF4-FFF2-40B4-BE49-F238E27FC236}">
                <a16:creationId xmlns:a16="http://schemas.microsoft.com/office/drawing/2014/main" id="{ED60FB9D-A896-680C-AB4F-AF25E4FEC6AA}"/>
              </a:ext>
            </a:extLst>
          </p:cNvPr>
          <p:cNvSpPr/>
          <p:nvPr/>
        </p:nvSpPr>
        <p:spPr>
          <a:xfrm>
            <a:off x="7118604" y="4882896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정보 팝업 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14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4056072-DFC8-7FA7-A0D0-D880474E84F3}"/>
              </a:ext>
            </a:extLst>
          </p:cNvPr>
          <p:cNvSpPr/>
          <p:nvPr/>
        </p:nvSpPr>
        <p:spPr>
          <a:xfrm>
            <a:off x="7118604" y="5266944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</a:t>
            </a:r>
            <a:r>
              <a:rPr lang="en-US" altLang="ko-KR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건물 카드를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집을시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정보가 나오게 구현</a:t>
            </a:r>
            <a:endParaRPr lang="en-US" sz="120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4BB96F34-DE45-302F-15A6-62C502D5ACC6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A7F9A73B-B330-E3EF-8C68-760EBD323AC4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B43ACBCA-64D7-8CDA-1663-6C65DEB4D334}"/>
              </a:ext>
            </a:extLst>
          </p:cNvPr>
          <p:cNvSpPr/>
          <p:nvPr/>
        </p:nvSpPr>
        <p:spPr>
          <a:xfrm>
            <a:off x="1433322" y="488746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개선</a:t>
            </a:r>
            <a:endParaRPr lang="en-US" sz="1450" dirty="0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2821165C-2691-88AF-B341-899A92BD8F45}"/>
              </a:ext>
            </a:extLst>
          </p:cNvPr>
          <p:cNvSpPr/>
          <p:nvPr/>
        </p:nvSpPr>
        <p:spPr>
          <a:xfrm>
            <a:off x="1433322" y="527151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게임에 있던 레시피 아이템 시스템 구현 못함</a:t>
            </a:r>
            <a:endParaRPr lang="en-US" altLang="ko-KR" sz="1200" dirty="0">
              <a:solidFill>
                <a:srgbClr val="6B6A5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레시피 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개선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11612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</a:t>
            </a:r>
            <a:r>
              <a:rPr lang="en-US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.0.0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1429</Words>
  <Application>Microsoft Office PowerPoint</Application>
  <PresentationFormat>와이드스크린</PresentationFormat>
  <Paragraphs>387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Malgun Gothic</vt:lpstr>
      <vt:lpstr>Malgun Gothic</vt:lpstr>
      <vt:lpstr>Arial</vt:lpstr>
      <vt:lpstr>Calibri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KJH</cp:lastModifiedBy>
  <cp:revision>44</cp:revision>
  <dcterms:created xsi:type="dcterms:W3CDTF">2026-06-07T20:11:08Z</dcterms:created>
  <dcterms:modified xsi:type="dcterms:W3CDTF">2026-06-09T01:18:17Z</dcterms:modified>
</cp:coreProperties>
</file>