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8" r:id="rId4"/>
    <p:sldId id="259" r:id="rId5"/>
    <p:sldId id="260" r:id="rId6"/>
    <p:sldId id="273" r:id="rId7"/>
    <p:sldId id="262" r:id="rId8"/>
    <p:sldId id="263" r:id="rId9"/>
    <p:sldId id="264" r:id="rId10"/>
    <p:sldId id="265" r:id="rId11"/>
    <p:sldId id="274" r:id="rId12"/>
    <p:sldId id="267" r:id="rId13"/>
    <p:sldId id="272" r:id="rId14"/>
    <p:sldId id="270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585"/>
    <a:srgbClr val="8FAE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72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9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7576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41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39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0788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gif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773410"/>
            <a:ext cx="12188952" cy="2084590"/>
          </a:xfrm>
          <a:prstGeom prst="rect">
            <a:avLst/>
          </a:prstGeom>
          <a:solidFill>
            <a:srgbClr val="38492A">
              <a:alpha val="8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566928" y="4483380"/>
            <a:ext cx="10058400" cy="100302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6600" dirty="0"/>
          </a:p>
        </p:txBody>
      </p:sp>
      <p:sp>
        <p:nvSpPr>
          <p:cNvPr id="7" name="Text 4"/>
          <p:cNvSpPr/>
          <p:nvPr/>
        </p:nvSpPr>
        <p:spPr>
          <a:xfrm>
            <a:off x="62179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F3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마을을 키우는 생존 경영 시뮬레이션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21792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</a:t>
            </a: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김지해</a:t>
            </a: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|      Build 1.0.0</a:t>
            </a:r>
            <a:endParaRPr lang="en-US" sz="1400" dirty="0"/>
          </a:p>
        </p:txBody>
      </p:sp>
      <p:pic>
        <p:nvPicPr>
          <p:cNvPr id="10" name="그림 9" descr="폰트, 그래픽, 타이포그래피, 로고이(가) 표시된 사진&#10;&#10;자동 생성된 설명">
            <a:extLst>
              <a:ext uri="{FF2B5EF4-FFF2-40B4-BE49-F238E27FC236}">
                <a16:creationId xmlns:a16="http://schemas.microsoft.com/office/drawing/2014/main" id="{1C0F649F-12F4-D429-A9F0-C1F883B102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4311" y="842799"/>
            <a:ext cx="5890562" cy="294528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소개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53312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8096" y="2505456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53312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게임 소개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53312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핵심 게임 루프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68096" y="3264408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68096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53312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53312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68096" y="4023360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68096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53312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약 3.5주 개발 과정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68096" y="4782312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68096" y="4782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53312" y="474573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① 날씨 시스템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505663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System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542239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8096" y="5541264"/>
            <a:ext cx="420624" cy="420624"/>
          </a:xfrm>
          <a:prstGeom prst="ellipse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8096" y="5541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53312" y="55046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② 주민 속성 시스템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53312" y="581558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Villager Attributes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55080" y="1627632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6556248" y="1746504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5624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41464" y="170992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③ 세계수 드롭 시스템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41464" y="2020824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Tree Drop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55080" y="2386584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556248" y="2505456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56248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41464" y="24688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④ 레시피별 이펙트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41464" y="277977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Recipe Effects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355080" y="3145536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556248" y="3264408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556248" y="3264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141464" y="322783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7141464" y="353872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55080" y="3904488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556248" y="4023360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556248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141464" y="398678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141464" y="42976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Tech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355080" y="4666803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556248" y="4785675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6556248" y="478567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7141464" y="4749099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플레이 영상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7141464" y="5059995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 Video</a:t>
            </a:r>
            <a:endParaRPr lang="en-US" altLang="ko-KR" sz="1000" dirty="0"/>
          </a:p>
        </p:txBody>
      </p:sp>
      <p:sp>
        <p:nvSpPr>
          <p:cNvPr id="64" name="Text 6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67" name="Shape 57"/>
          <p:cNvSpPr/>
          <p:nvPr/>
        </p:nvSpPr>
        <p:spPr>
          <a:xfrm>
            <a:off x="6364224" y="5440680"/>
            <a:ext cx="5212080" cy="658368"/>
          </a:xfrm>
          <a:prstGeom prst="roundRect">
            <a:avLst>
              <a:gd name="adj" fmla="val 1388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58"/>
          <p:cNvSpPr/>
          <p:nvPr/>
        </p:nvSpPr>
        <p:spPr>
          <a:xfrm>
            <a:off x="6565392" y="5559552"/>
            <a:ext cx="420624" cy="420624"/>
          </a:xfrm>
          <a:prstGeom prst="ellipse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59"/>
          <p:cNvSpPr/>
          <p:nvPr/>
        </p:nvSpPr>
        <p:spPr>
          <a:xfrm>
            <a:off x="6565392" y="5559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70" name="Text 60"/>
          <p:cNvSpPr/>
          <p:nvPr/>
        </p:nvSpPr>
        <p:spPr>
          <a:xfrm>
            <a:off x="7150608" y="55229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향후 과제</a:t>
            </a:r>
            <a:endParaRPr lang="en-US" sz="1500" dirty="0"/>
          </a:p>
        </p:txBody>
      </p:sp>
      <p:sp>
        <p:nvSpPr>
          <p:cNvPr id="71" name="Text 61"/>
          <p:cNvSpPr/>
          <p:nvPr/>
        </p:nvSpPr>
        <p:spPr>
          <a:xfrm>
            <a:off x="7150608" y="5833872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A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· Future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34694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 — Stacklands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806440" cy="4754880"/>
          </a:xfrm>
          <a:prstGeom prst="roundRect">
            <a:avLst>
              <a:gd name="adj" fmla="val 230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16642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Stacklands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Sokpop Collective · 2022 · 카드 스태킹 마을 건설 / 생존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914400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압도적 긍정 평가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15768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15768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715768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카드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17136" y="50292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517136" y="5120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13종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517136" y="55961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4992624" cy="4754880"/>
          </a:xfrm>
          <a:prstGeom prst="roundRect">
            <a:avLst>
              <a:gd name="adj" fmla="val 2308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29400" y="1627632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게임의 재미 · 레퍼런스로 삼은 이유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922008" y="21671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13448" y="2240280"/>
            <a:ext cx="530352" cy="56692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772400" y="21214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몰입감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772400" y="24871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조작 없이 카드를 </a:t>
            </a:r>
            <a:r>
              <a:rPr lang="en-US" sz="1100" dirty="0" err="1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쌓는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잔잔하고</a:t>
            </a: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느긋한 플레이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22008" y="30815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79265" y="3154680"/>
            <a:ext cx="39871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772400" y="30358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수집·조합의 재미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772400" y="34015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수많은 카드와 숨은 조합을 발견하는 성취감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922008" y="39959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img/card_hous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013448" y="4069080"/>
            <a:ext cx="530352" cy="5669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772400" y="39502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규칙, </a:t>
            </a: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심플한 디자인</a:t>
            </a:r>
            <a:endParaRPr lang="en-US" sz="1450" dirty="0"/>
          </a:p>
        </p:txBody>
      </p:sp>
      <p:sp>
        <p:nvSpPr>
          <p:cNvPr id="31" name="Text 26"/>
          <p:cNvSpPr/>
          <p:nvPr/>
        </p:nvSpPr>
        <p:spPr>
          <a:xfrm>
            <a:off x="7772400" y="43159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진입 + </a:t>
            </a: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심플한 디자인으로 진입장벽 낮음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922008" y="4910328"/>
            <a:ext cx="713232" cy="713232"/>
          </a:xfrm>
          <a:prstGeom prst="ellipse">
            <a:avLst/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img/card_campfir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13448" y="4983480"/>
            <a:ext cx="530352" cy="56692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772400" y="4864608"/>
            <a:ext cx="3666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모험과 발견 중심의 확장</a:t>
            </a:r>
            <a:endParaRPr lang="en-US" sz="1450" dirty="0"/>
          </a:p>
        </p:txBody>
      </p:sp>
      <p:sp>
        <p:nvSpPr>
          <p:cNvPr id="35" name="Text 29"/>
          <p:cNvSpPr/>
          <p:nvPr/>
        </p:nvSpPr>
        <p:spPr>
          <a:xfrm>
            <a:off x="7772400" y="5230368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D9E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곳으로 이동을 하거나 포탈을 통한 탐험 시스템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pic>
        <p:nvPicPr>
          <p:cNvPr id="41" name="그림 40" descr="텍스트, 스크린샷, 지도이(가) 표시된 사진&#10;&#10;자동 생성된 설명">
            <a:extLst>
              <a:ext uri="{FF2B5EF4-FFF2-40B4-BE49-F238E27FC236}">
                <a16:creationId xmlns:a16="http://schemas.microsoft.com/office/drawing/2014/main" id="{5AB61DDA-9D03-C95D-5095-DF4329418B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3600" y="2381635"/>
            <a:ext cx="4413096" cy="24829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OUR GAME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 — 게임 소개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41248" y="1627632"/>
            <a:ext cx="960120" cy="960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84248" y="1481328"/>
            <a:ext cx="9418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카드를 중심으로 자원을 모으고, 제작하고, 마을을 지켜내는 생존 경영 게임</a:t>
            </a:r>
            <a:endParaRPr lang="en-US" sz="16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쌓아 작업을 지시하고 · 하루가 지날 때마다 식량으로 주민을 먹이며 · 적의 습격과 변화하는 날씨를 버텨낸다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6928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게임 루프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14400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img/villag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8992" y="3886200"/>
            <a:ext cx="950976" cy="950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+ 자원/도구 카드를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작업 시작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05456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734056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3081528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3" descr="img/berry-bus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46120" y="3904488"/>
            <a:ext cx="950976" cy="9509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734056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· 제작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825496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레시피에 따라 자원 채집,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· 도구 생산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672584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4901184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8656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901184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경과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992624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= 하루, 매일 주민이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식량을 소비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839712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7068312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415784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img/enemy_01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580376" y="3886200"/>
            <a:ext cx="950976" cy="95097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159752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포탈에서 적 출현,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주민과 자동 전투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9006840" y="4023360"/>
            <a:ext cx="265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9235440" y="3520440"/>
            <a:ext cx="1975104" cy="2423160"/>
          </a:xfrm>
          <a:prstGeom prst="roundRect">
            <a:avLst>
              <a:gd name="adj" fmla="val 555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9582912" y="3721608"/>
            <a:ext cx="1280160" cy="1280160"/>
          </a:xfrm>
          <a:prstGeom prst="ellipse">
            <a:avLst/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img/coin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747504" y="3886200"/>
            <a:ext cx="950976" cy="95097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235440" y="5038344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 순환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326880" y="53492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판매 → 코인 →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구매로 확장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66928" y="60533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사이클 — 식량·전투·날씨를 관리하며 더 오래 생존하는 것이 목표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pic>
        <p:nvPicPr>
          <p:cNvPr id="44" name="Image 2" descr="img/card_campfire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411251" y="3886200"/>
            <a:ext cx="950976" cy="9509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2588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809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9536" y="193852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7393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스택 &amp; 자동 스택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77393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드래그·겹침, 인접 동종 카드 자동 정렬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644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454761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img/card_camp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9056" y="1938528"/>
            <a:ext cx="685800" cy="685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5345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· 제작 시스템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55345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조합 → 음식·도구·건물 생산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25968" y="1554480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8327136" y="1847088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img/card_tree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18576" y="1938528"/>
            <a:ext cx="685800" cy="6858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32976" y="1810512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&amp; 랜덤 보상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9332976" y="2231136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채집, 결과 확률형 드랍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6692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76809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img/berry-bush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9536" y="3557016"/>
            <a:ext cx="685800" cy="6858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77393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사이클 &amp; 식량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77393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2분=</a:t>
            </a:r>
            <a:r>
              <a:rPr lang="en-US" sz="11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</a:t>
            </a:r>
            <a:b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1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배분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게임오버</a:t>
            </a: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4644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4761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39056" y="3557016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5345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</a:t>
            </a: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시스템</a:t>
            </a:r>
            <a:endParaRPr lang="en-US" sz="1450" dirty="0"/>
          </a:p>
        </p:txBody>
      </p:sp>
      <p:sp>
        <p:nvSpPr>
          <p:cNvPr id="30" name="Text 23"/>
          <p:cNvSpPr/>
          <p:nvPr/>
        </p:nvSpPr>
        <p:spPr>
          <a:xfrm>
            <a:off x="555345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속성별 </a:t>
            </a:r>
            <a:r>
              <a:rPr lang="ko-KR" altLang="en-US" sz="11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스탯</a:t>
            </a:r>
            <a:r>
              <a:rPr lang="ko-KR" alt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차별화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25968" y="3172968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8327136" y="3465576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img/coin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18576" y="3557016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332976" y="3429000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&amp; 코인 경제</a:t>
            </a:r>
            <a:endParaRPr lang="en-US" sz="1450" dirty="0"/>
          </a:p>
        </p:txBody>
      </p:sp>
      <p:sp>
        <p:nvSpPr>
          <p:cNvPr id="35" name="Text 27"/>
          <p:cNvSpPr/>
          <p:nvPr/>
        </p:nvSpPr>
        <p:spPr>
          <a:xfrm>
            <a:off x="9332976" y="3849624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구매/판매 거점, 코인 주머니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56692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76809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img/enemy_01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59536" y="5175504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77393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웨이브 &amp; 전투</a:t>
            </a:r>
            <a:endParaRPr lang="en-US" sz="1450" dirty="0"/>
          </a:p>
        </p:txBody>
      </p:sp>
      <p:sp>
        <p:nvSpPr>
          <p:cNvPr id="40" name="Text 31"/>
          <p:cNvSpPr/>
          <p:nvPr/>
        </p:nvSpPr>
        <p:spPr>
          <a:xfrm>
            <a:off x="177393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포탈 출현, 자동 전투·드랍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434644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454761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7" descr="img/icon_weather_sunny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639056" y="5175504"/>
            <a:ext cx="685800" cy="68580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55345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1450" dirty="0"/>
          </a:p>
        </p:txBody>
      </p:sp>
      <p:sp>
        <p:nvSpPr>
          <p:cNvPr id="45" name="Text 35"/>
          <p:cNvSpPr/>
          <p:nvPr/>
        </p:nvSpPr>
        <p:spPr>
          <a:xfrm>
            <a:off x="555345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룰렛 기반 4종 날씨 효과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8125968" y="4791456"/>
            <a:ext cx="3505200" cy="1417320"/>
          </a:xfrm>
          <a:prstGeom prst="roundRect">
            <a:avLst>
              <a:gd name="adj" fmla="val 645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8327136" y="5084064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img/card_storage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18576" y="5175504"/>
            <a:ext cx="685800" cy="685800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332976" y="5047488"/>
            <a:ext cx="213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로드</a:t>
            </a:r>
            <a:endParaRPr lang="en-US" sz="1450" dirty="0"/>
          </a:p>
        </p:txBody>
      </p:sp>
      <p:sp>
        <p:nvSpPr>
          <p:cNvPr id="50" name="Text 39"/>
          <p:cNvSpPr/>
          <p:nvPr/>
        </p:nvSpPr>
        <p:spPr>
          <a:xfrm>
            <a:off x="9332976" y="546811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게임 상태 저장·복원</a:t>
            </a:r>
            <a:endParaRPr lang="en-US" sz="1100" dirty="0"/>
          </a:p>
        </p:txBody>
      </p:sp>
      <p:sp>
        <p:nvSpPr>
          <p:cNvPr id="51" name="Text 40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TIMELINE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 요약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8448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05. 18  ~  06. 08   ·   약 3주 개발 (3단계)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474720" cy="4434840"/>
          </a:xfrm>
          <a:prstGeom prst="roundRect">
            <a:avLst>
              <a:gd name="adj" fmla="val 315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600200"/>
            <a:ext cx="3474720" cy="1078992"/>
          </a:xfrm>
          <a:prstGeom prst="roundRect">
            <a:avLst>
              <a:gd name="adj" fmla="val 10169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240280"/>
            <a:ext cx="3474720" cy="438912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86384" y="174650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" y="20208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05.18 ~ 05.24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6384" y="22951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시스템 구축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2926080"/>
            <a:ext cx="29992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데이터 구조 · PlayerInput 입력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줌 ·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드래그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제어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조합 · 채집 · 자동 스택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스타터 카드팩 · 하루 사이클 · 식량/게임오버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361688" y="1600200"/>
            <a:ext cx="3474720" cy="4434840"/>
          </a:xfrm>
          <a:prstGeom prst="roundRect">
            <a:avLst>
              <a:gd name="adj" fmla="val 315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361688" y="1600200"/>
            <a:ext cx="3474720" cy="1078992"/>
          </a:xfrm>
          <a:prstGeom prst="roundRect">
            <a:avLst>
              <a:gd name="adj" fmla="val 10169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361688" y="2240280"/>
            <a:ext cx="3474720" cy="438912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581144" y="174650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81144" y="20208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05.25 ~ 05.31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81144" y="22951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확장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17720" y="2926080"/>
            <a:ext cx="29992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시스템 구현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카드팩 확률 시스템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 시스템 · </a:t>
            </a:r>
            <a:r>
              <a:rPr lang="ko-KR" alt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스폰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</a:t>
            </a:r>
            <a:endParaRPr lang="en-US" sz="1350" dirty="0">
              <a:solidFill>
                <a:srgbClr val="2E33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주민 속성 시스템 추가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 (4종)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56448" y="1600200"/>
            <a:ext cx="3474720" cy="4434840"/>
          </a:xfrm>
          <a:prstGeom prst="roundRect">
            <a:avLst>
              <a:gd name="adj" fmla="val 3158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8156448" y="1600200"/>
            <a:ext cx="3474720" cy="1078992"/>
          </a:xfrm>
          <a:prstGeom prst="roundRect">
            <a:avLst>
              <a:gd name="adj" fmla="val 10169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156448" y="2240280"/>
            <a:ext cx="3474720" cy="438912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8375904" y="1746504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75904" y="20208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06.01 ~ 06.08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375904" y="22951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· 완성도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12480" y="2926080"/>
            <a:ext cx="299923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씬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제약 · 최대 개수 · 창고 확장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세이브 /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35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 </a:t>
            </a: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</a:t>
            </a:r>
            <a:endParaRPr lang="en-US" sz="1350" dirty="0">
              <a:solidFill>
                <a:srgbClr val="2E33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</a:t>
            </a: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en-US" sz="1350" dirty="0">
              <a:solidFill>
                <a:srgbClr val="2E3322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UI </a:t>
            </a:r>
            <a:r>
              <a:rPr lang="ko-KR" altLang="en-US" sz="135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작업 및 디자인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96411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1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①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3657600" cy="4663440"/>
          </a:xfrm>
          <a:prstGeom prst="roundRect">
            <a:avLst>
              <a:gd name="adj" fmla="val 3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288" y="1828800"/>
            <a:ext cx="2468880" cy="2468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45262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7일마다 룰렛 추첨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날씨를 무작위로 결정하고</a:t>
            </a:r>
            <a:endParaRPr lang="en-US" sz="15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효과가 지속된다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72000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828032" y="1892808"/>
            <a:ext cx="1371600" cy="1371600"/>
          </a:xfrm>
          <a:prstGeom prst="ellipse">
            <a:avLst/>
          </a:prstGeom>
          <a:solidFill>
            <a:srgbClr val="FBE7B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icon_weather_sunn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0" y="2093976"/>
            <a:ext cx="969264" cy="9692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55080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784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맑음 (Sunny)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355080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결과 30% 확률로 2배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34172" y="150876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8490204" y="1892808"/>
            <a:ext cx="1371600" cy="1371600"/>
          </a:xfrm>
          <a:prstGeom prst="ellipse">
            <a:avLst/>
          </a:prstGeom>
          <a:solidFill>
            <a:srgbClr val="CFE3F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img/icon_weather_rai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91372" y="2093976"/>
            <a:ext cx="969264" cy="9692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17252" y="189280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E6B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 (Rain)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0017252" y="240487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 속도 1.5배 가속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0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4828032" y="4361688"/>
            <a:ext cx="1371600" cy="1371600"/>
          </a:xfrm>
          <a:prstGeom prst="ellipse">
            <a:avLst/>
          </a:prstGeom>
          <a:solidFill>
            <a:srgbClr val="E2ECF4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icon_weather_snow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029200" y="4562856"/>
            <a:ext cx="969264" cy="9692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55080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7C9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(Snow)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6355080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카드 2장 빙결 → 사용 불가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234172" y="3977640"/>
            <a:ext cx="338785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90204" y="4361688"/>
            <a:ext cx="1371600" cy="1371600"/>
          </a:xfrm>
          <a:prstGeom prst="ellipse">
            <a:avLst/>
          </a:prstGeom>
          <a:solidFill>
            <a:srgbClr val="D8D6E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img/icon_weather_sto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691372" y="4562856"/>
            <a:ext cx="969264" cy="9692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017252" y="4361688"/>
            <a:ext cx="1467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B55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폭풍 (Storm)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0017252" y="4873752"/>
            <a:ext cx="14218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</a:t>
            </a:r>
            <a:r>
              <a:rPr lang="en-US" altLang="ko-KR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</a:t>
            </a:r>
            <a:r>
              <a:rPr lang="en-US" sz="130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흔들림, 매일 1장씩 날아감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②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속성 시스템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66928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속성 주민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CE6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villag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7824" y="2029968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(Normal)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2377440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FCE3D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img/Villager_Fir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688336" y="2029968"/>
            <a:ext cx="1005840" cy="1005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377440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 (Fire)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187952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D6E8F2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Villager_Wat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98848" y="2029968"/>
            <a:ext cx="1005840" cy="1005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87952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(Water)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998464" y="1828800"/>
            <a:ext cx="1627632" cy="2057400"/>
          </a:xfrm>
          <a:prstGeom prst="roundRect">
            <a:avLst>
              <a:gd name="adj" fmla="val 6742"/>
            </a:avLst>
          </a:prstGeom>
          <a:solidFill>
            <a:srgbClr val="E4E0D6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3" descr="img/Villager_Stone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09360" y="2029968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998464" y="31546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(Stone)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66928" y="397764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62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 VillagerType { Normal, Fire, Water, Stone }  +  속성별 외형·특성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66928" y="4434840"/>
            <a:ext cx="7040880" cy="1737360"/>
          </a:xfrm>
          <a:prstGeom prst="roundRect">
            <a:avLst>
              <a:gd name="adj" fmla="val 631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img/baby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1248" y="4709160"/>
            <a:ext cx="1143000" cy="1143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167128" y="46177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→ 성장 시스템</a:t>
            </a:r>
            <a:endParaRPr lang="en-US" sz="1500" dirty="0"/>
          </a:p>
          <a:p>
            <a:pPr marL="0" indent="0" algn="l">
              <a:spcAft>
                <a:spcPts val="500"/>
              </a:spcAft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아기 카드는 </a:t>
            </a:r>
            <a:r>
              <a:rPr lang="en-US" sz="125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채집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참여하지 못하며, 3일이 </a:t>
            </a:r>
            <a:r>
              <a:rPr lang="en-US" sz="125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지나면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</a:t>
            </a: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주민(adultData)으로 성장한다.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7726680" y="1417320"/>
            <a:ext cx="3886200" cy="4754880"/>
          </a:xfrm>
          <a:prstGeom prst="roundRect">
            <a:avLst>
              <a:gd name="adj" fmla="val 2824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7726680" y="1645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주민이 가지는 스탯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7955280" y="207527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9"/>
          <p:cNvSpPr/>
          <p:nvPr/>
        </p:nvSpPr>
        <p:spPr>
          <a:xfrm>
            <a:off x="8138160" y="214842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체력 (Health)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8138160" y="244103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적의 공격으로 감소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7955280" y="2879942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/>
          <p:nvPr/>
        </p:nvSpPr>
        <p:spPr>
          <a:xfrm>
            <a:off x="8138160" y="295309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배고픔 (Hunger)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138160" y="324570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증가, 0이면 사망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7955280" y="3684614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/>
          <p:nvPr/>
        </p:nvSpPr>
        <p:spPr>
          <a:xfrm>
            <a:off x="8138160" y="375776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공격력 (Attack)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138160" y="405037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전투 시 적에게 피해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7955280" y="4489286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/>
          <p:nvPr/>
        </p:nvSpPr>
        <p:spPr>
          <a:xfrm>
            <a:off x="8138160" y="456243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속도 (Work Speed)</a:t>
            </a:r>
            <a:endParaRPr lang="en-US" sz="1300" dirty="0"/>
          </a:p>
        </p:txBody>
      </p:sp>
      <p:sp>
        <p:nvSpPr>
          <p:cNvPr id="36" name="Text 29"/>
          <p:cNvSpPr/>
          <p:nvPr/>
        </p:nvSpPr>
        <p:spPr>
          <a:xfrm>
            <a:off x="8138160" y="485504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소요시간 단축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7955280" y="5293958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CF8E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/>
          <p:nvPr/>
        </p:nvSpPr>
        <p:spPr>
          <a:xfrm>
            <a:off x="8138160" y="536711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 간격 (Interval)</a:t>
            </a:r>
            <a:endParaRPr lang="en-US" sz="1300" dirty="0"/>
          </a:p>
        </p:txBody>
      </p:sp>
      <p:sp>
        <p:nvSpPr>
          <p:cNvPr id="39" name="Text 32"/>
          <p:cNvSpPr/>
          <p:nvPr/>
        </p:nvSpPr>
        <p:spPr>
          <a:xfrm>
            <a:off x="8138160" y="565971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전투 공격 주기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③  · </a:t>
            </a:r>
            <a:r>
              <a:rPr lang="en-US" altLang="ko-KR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altLang="ko-KR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랜덤 드롭 시스템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200400" cy="4617720"/>
          </a:xfrm>
          <a:prstGeom prst="roundRect">
            <a:avLst>
              <a:gd name="adj" fmla="val 3429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img/card_worldTre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1288" y="1874520"/>
            <a:ext cx="2011680" cy="2011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카드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449884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필드에 랜덤으로 생성되어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 채집할 수 있는 나무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69080" y="1481328"/>
            <a:ext cx="7552944" cy="2788920"/>
          </a:xfrm>
          <a:prstGeom prst="roundRect">
            <a:avLst>
              <a:gd name="adj" fmla="val 393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43400" y="1609344"/>
            <a:ext cx="7004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세계수 채집  →  매번 랜덤 드롭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26280" y="1993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랜덤 드롭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2628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img/woo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2395728"/>
            <a:ext cx="868680" cy="8686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2628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통나무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3504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img/card_fairyHer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09360" y="2395728"/>
            <a:ext cx="868680" cy="8686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498080" y="26060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FA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Shape 15"/>
          <p:cNvSpPr/>
          <p:nvPr/>
        </p:nvSpPr>
        <p:spPr>
          <a:xfrm>
            <a:off x="8275320" y="2286000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7F1E1"/>
          </a:solidFill>
          <a:ln w="25400">
            <a:solidFill>
              <a:srgbClr val="E0A23A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img/card_fairySoup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549640" y="2395728"/>
            <a:ext cx="868680" cy="8686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75320" y="331012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 스프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829800" y="2542032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요정허브로 만드는</a:t>
            </a:r>
            <a:endParaRPr lang="en-US" sz="1150" dirty="0"/>
          </a:p>
          <a:p>
            <a:pPr marL="0" indent="0" algn="l">
              <a:buNone/>
            </a:pPr>
            <a:r>
              <a:rPr lang="en-US" sz="115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069080" y="4453128"/>
            <a:ext cx="7552944" cy="1645920"/>
          </a:xfrm>
          <a:prstGeom prst="roundRect">
            <a:avLst>
              <a:gd name="adj" fmla="val 6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/>
          <p:nvPr/>
        </p:nvSpPr>
        <p:spPr>
          <a:xfrm>
            <a:off x="4361688" y="4617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추가했나?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4361688" y="5010912"/>
            <a:ext cx="6967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 카드의 종류가 부족했던 상황에서, 플레이어에게 새로운 음식 공급원이자 하나의 즐길 거리(콘텐츠)를 제공하고자 — 세계수 → 요정허브 → 요정 스프로 </a:t>
            </a:r>
            <a:r>
              <a:rPr lang="en-US" sz="13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이어지는</a:t>
            </a: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레시피를 </a:t>
            </a:r>
            <a:r>
              <a:rPr lang="en-US" sz="13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추가했다</a:t>
            </a:r>
            <a:r>
              <a:rPr lang="en-US" sz="13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A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DIFFERENTIATOR ④  ·  </a:t>
            </a:r>
            <a:r>
              <a:rPr lang="en-US" sz="1150" b="1" kern="0" spc="200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레퍼런스와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</a:t>
            </a: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114800" cy="4617720"/>
          </a:xfrm>
          <a:prstGeom prst="roundRect">
            <a:avLst>
              <a:gd name="adj" fmla="val 2667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</a:rPr>
              <a:t>레시피마다 다른 이펙트 연출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2331720"/>
            <a:ext cx="3474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스택해 작업할 때, 진행 중인 작업 종류에 맞는 전용 파티클 이펙트가 카드 위에서 재생된다.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4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125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레시피·채집 데이터마다 effectPrefab 을 지정 → ProgressTask 가 작업 중 해당 이펙트를 생성</a:t>
            </a:r>
            <a:endParaRPr lang="en-US" sz="14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r>
              <a:rPr lang="en-US" sz="1300" b="1" dirty="0" err="1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차별점인가</a:t>
            </a:r>
            <a:endParaRPr lang="en-US" sz="1300" b="1" dirty="0">
              <a:solidFill>
                <a:srgbClr val="8FAE55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게임을 </a:t>
            </a:r>
            <a:r>
              <a:rPr lang="ko-KR" altLang="en-US" sz="14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했을적에</a:t>
            </a: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ProgressBar</a:t>
            </a: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멍하니 지켜보던 시간이 많았고</a:t>
            </a:r>
            <a:r>
              <a:rPr lang="en-US" altLang="ko-KR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좀더 시각적인 재미를 주면 좋겠다고 생각했습니다</a:t>
            </a:r>
            <a:r>
              <a:rPr lang="en-US" altLang="ko-KR" sz="14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 algn="l">
              <a:buNone/>
            </a:pPr>
            <a:endParaRPr lang="en-US" altLang="ko-KR" sz="1400" dirty="0">
              <a:solidFill>
                <a:srgbClr val="E7DEC4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r>
              <a:rPr lang="en-US" altLang="ko-KR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en-US" sz="1250" b="1" dirty="0" err="1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무슨</a:t>
            </a:r>
            <a:r>
              <a:rPr 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작업인지 한눈에 보이고, </a:t>
            </a:r>
            <a:r>
              <a:rPr lang="en-US" sz="1250" b="1" dirty="0" err="1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타격감과</a:t>
            </a:r>
            <a:r>
              <a:rPr 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시각적 재미를 </a:t>
            </a:r>
            <a:r>
              <a:rPr lang="ko-KR" altLang="en-US" sz="1250" b="1" dirty="0" err="1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극대화시킨다</a:t>
            </a:r>
            <a:r>
              <a:rPr lang="en-US" altLang="ko-KR" sz="1250" b="1" dirty="0">
                <a:solidFill>
                  <a:srgbClr val="AEC5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b="1" dirty="0">
              <a:solidFill>
                <a:srgbClr val="AEC585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892040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8928" y="1711946"/>
            <a:ext cx="1251496" cy="173332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75120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채집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도끼로 패듯 나무 조각이 사방으로 흩뿌려진다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394192" y="148132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683342" y="1716461"/>
            <a:ext cx="1302940" cy="180457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177272" y="186537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6B64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 캐기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77272" y="237744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단단한 돌 조각이 튀어 오른다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892040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178457" y="4101566"/>
            <a:ext cx="1274254" cy="17648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75120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열매 채집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6675120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덤불에서 잎과 열매가 흩날린다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394192" y="3904488"/>
            <a:ext cx="3227832" cy="2194560"/>
          </a:xfrm>
          <a:prstGeom prst="roundRect">
            <a:avLst>
              <a:gd name="adj" fmla="val 5000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636211" y="4123763"/>
            <a:ext cx="1299044" cy="179917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77272" y="4288536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8C623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건설 · 제작</a:t>
            </a:r>
            <a:endParaRPr lang="en-US" sz="1700" dirty="0"/>
          </a:p>
        </p:txBody>
      </p:sp>
      <p:sp>
        <p:nvSpPr>
          <p:cNvPr id="28" name="Text 22"/>
          <p:cNvSpPr/>
          <p:nvPr/>
        </p:nvSpPr>
        <p:spPr>
          <a:xfrm>
            <a:off x="10177272" y="4800600"/>
            <a:ext cx="1261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레시피와 연관된</a:t>
            </a:r>
            <a:r>
              <a:rPr lang="en-US" sz="1300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</a:t>
            </a:r>
            <a:r>
              <a:rPr 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이펙트가 나온다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구조 · 설계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212848" y="1554480"/>
            <a:ext cx="457200" cy="1298448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8470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계층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Singleton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5292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85292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GameManager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881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25881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DayManager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470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470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WeatherManager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70598" y="1737360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070598" y="1737360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5292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85292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EnemyManager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881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25881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SoundManager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70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66470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SettlementManager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0598" y="2249424"/>
            <a:ext cx="126873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4A65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70598" y="2249424"/>
            <a:ext cx="126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InputManager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035808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212848" y="3035808"/>
            <a:ext cx="457200" cy="1298448"/>
          </a:xfrm>
          <a:prstGeom prst="rect">
            <a:avLst/>
          </a:prstGeom>
          <a:solidFill>
            <a:srgbClr val="E0A23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33284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계층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31520" y="37490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ScriptableObject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85292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85292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2744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72744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VillagerCardData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01968" y="3218688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601968" y="32186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EnemyCardData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5292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85292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CardRecipe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2744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2744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CardPackData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01968" y="3730752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E0A23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601968" y="373075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WeatherType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4517136"/>
            <a:ext cx="7955280" cy="1298448"/>
          </a:xfrm>
          <a:prstGeom prst="roundRect">
            <a:avLst>
              <a:gd name="adj" fmla="val 7042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66928" y="4517136"/>
            <a:ext cx="2103120" cy="1298448"/>
          </a:xfrm>
          <a:prstGeom prst="roundRect">
            <a:avLst>
              <a:gd name="adj" fmla="val 7042"/>
            </a:avLst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212848" y="4517136"/>
            <a:ext cx="457200" cy="1298448"/>
          </a:xfrm>
          <a:prstGeom prst="rect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731520" y="48097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· UI · 런타임</a:t>
            </a:r>
            <a:endParaRPr lang="en-US" sz="1550" dirty="0"/>
          </a:p>
        </p:txBody>
      </p:sp>
      <p:sp>
        <p:nvSpPr>
          <p:cNvPr id="48" name="Text 46"/>
          <p:cNvSpPr/>
          <p:nvPr/>
        </p:nvSpPr>
        <p:spPr>
          <a:xfrm>
            <a:off x="731520" y="5230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MonoBehaviour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85292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285292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/ VillagerCard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2744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2744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CardStack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601968" y="4700016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6601968" y="4700016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ProgressTask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85292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85292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727448" y="5212080"/>
            <a:ext cx="1737360" cy="420624"/>
          </a:xfrm>
          <a:prstGeom prst="roundRect">
            <a:avLst>
              <a:gd name="adj" fmla="val 17391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727448" y="521208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UI_Ingame / RecipeBook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8750808" y="1554480"/>
            <a:ext cx="2871216" cy="4078224"/>
          </a:xfrm>
          <a:prstGeom prst="roundRect">
            <a:avLst>
              <a:gd name="adj" fmla="val 3822"/>
            </a:avLst>
          </a:prstGeom>
          <a:solidFill>
            <a:srgbClr val="38492A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8750808" y="1700784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데이터 구조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9340596" y="2121408"/>
            <a:ext cx="1691640" cy="457200"/>
          </a:xfrm>
          <a:prstGeom prst="roundRect">
            <a:avLst>
              <a:gd name="adj" fmla="val 20000"/>
            </a:avLst>
          </a:prstGeom>
          <a:solidFill>
            <a:srgbClr val="E0A23A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9340596" y="212140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CardData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50808" y="2560320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C9D4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 · ScriptableObject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750808" y="2724912"/>
            <a:ext cx="2871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 상속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915400" y="2999232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8915400" y="2999232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10268712" y="2999232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/>
          <p:nvPr/>
        </p:nvSpPr>
        <p:spPr>
          <a:xfrm>
            <a:off x="10268712" y="2999232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8915400" y="3493008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8915400" y="3493008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Coin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10268712" y="3493008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/>
          <p:nvPr/>
        </p:nvSpPr>
        <p:spPr>
          <a:xfrm>
            <a:off x="10268712" y="3493008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Heart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8915400" y="3986784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/>
          <p:nvPr/>
        </p:nvSpPr>
        <p:spPr>
          <a:xfrm>
            <a:off x="8915400" y="398678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Food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10268712" y="3986784"/>
            <a:ext cx="1243584" cy="402336"/>
          </a:xfrm>
          <a:prstGeom prst="roundRect">
            <a:avLst>
              <a:gd name="adj" fmla="val 18182"/>
            </a:avLst>
          </a:prstGeom>
          <a:solidFill>
            <a:srgbClr val="F7F1E1"/>
          </a:solidFill>
          <a:ln w="12700">
            <a:solidFill>
              <a:srgbClr val="8FAE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/>
          <p:nvPr/>
        </p:nvSpPr>
        <p:spPr>
          <a:xfrm>
            <a:off x="10268712" y="398678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E33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750808" y="4425696"/>
            <a:ext cx="2871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 카드 UI로 묶임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9006840" y="4681728"/>
            <a:ext cx="2359152" cy="420624"/>
          </a:xfrm>
          <a:prstGeom prst="roundRect">
            <a:avLst>
              <a:gd name="adj" fmla="val 21739"/>
            </a:avLst>
          </a:prstGeom>
          <a:solidFill>
            <a:srgbClr val="8FAE5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/>
          <p:nvPr/>
        </p:nvSpPr>
        <p:spPr>
          <a:xfrm>
            <a:off x="9006840" y="4681728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2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ResourceCardUI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8915400" y="5138928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Coin·Heart·Resource·Source 를 </a:t>
            </a:r>
            <a:r>
              <a:rPr lang="en-US" sz="850" dirty="0" err="1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r>
              <a:rPr 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850" dirty="0" err="1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</a:t>
            </a:r>
            <a:endParaRPr lang="en-US" sz="850" dirty="0">
              <a:solidFill>
                <a:srgbClr val="C9D4B3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ko-KR" alt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</a:rPr>
              <a:t>카드에 표시되는 정보의 따라 분리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C9D4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(Food·Building 등은 각자 전용 UI)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02638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TECHNOLOGY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구현 기술 2가지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5440680" cy="502920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DB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09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ScriptableObject 데이터 기반 설계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Data-Driven Design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내용을 ‘데이터 파일’로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카드·레시피·날씨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요소를 코드가 아닌 데이터로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관리한다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건드리지 않고 데이터만 바꿔 수치·확률을 바로 조정 → 밸런싱이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추가·재사용이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쉽다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algn="l">
              <a:buSzPct val="100000"/>
            </a:pP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카드를 넣어도 기존 코드를 거의 고칠 필요가 없다.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281928" y="1554480"/>
            <a:ext cx="5440680" cy="4526280"/>
          </a:xfrm>
          <a:prstGeom prst="roundRect">
            <a:avLst>
              <a:gd name="adj" fmla="val 2424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114300" dist="50800" dir="5400000" algn="bl" rotWithShape="0">
              <a:srgbClr val="3A3A2A">
                <a:alpha val="2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281928" y="155448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81928" y="2103120"/>
            <a:ext cx="5440680" cy="502920"/>
          </a:xfrm>
          <a:prstGeom prst="rect">
            <a:avLst/>
          </a:prstGeom>
          <a:solidFill>
            <a:srgbClr val="8C623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56248" y="1737360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BE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24928" y="1719072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고유 스택 관리 시스템</a:t>
            </a:r>
            <a:endParaRPr lang="en-US" sz="17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F3E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Card Stacking System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47688" y="292608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더미를 한 묶음으로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카드들을 자동으로 가지런히 정렬해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집고 놓으면 알아서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내려놓으면 가까운 더미에 저절로 합쳐지고, 같은 카드는 자동으로 </a:t>
            </a: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algn="l">
              <a:buSzPct val="100000"/>
            </a:pPr>
            <a:endParaRPr lang="en-US" sz="1450" dirty="0"/>
          </a:p>
          <a:p>
            <a:pPr marL="228600" indent="-228600" algn="l">
              <a:buSzPct val="100000"/>
              <a:buChar char="✓"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스택에 규칙이 </a:t>
            </a:r>
            <a:r>
              <a:rPr lang="en-US" sz="145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algn="l">
              <a:buSzPct val="100000"/>
            </a:pPr>
            <a:r>
              <a:rPr lang="en-US" sz="13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주민은</a:t>
            </a:r>
            <a:r>
              <a:rPr lang="en-US" sz="13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항상 맨 위에 놓이고, 적·얼린 카드는 합쳐지지 않는다.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Video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</a:rPr>
              <a:t>플레이 영상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566928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1183112" y="6437376"/>
            <a:ext cx="201168" cy="201168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1183112" y="6428232"/>
            <a:ext cx="201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000" dirty="0"/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959" y="1875308"/>
            <a:ext cx="3218793" cy="321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2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A6535"/>
          </a:solidFill>
          <a:ln/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8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16736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 · FUTURE WORK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98448" y="6583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 &amp; </a:t>
            </a:r>
            <a:r>
              <a:rPr lang="en-US" sz="2700" b="1" dirty="0" err="1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</a:t>
            </a:r>
            <a:r>
              <a:rPr 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추가하고 싶은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5340096" cy="420624"/>
          </a:xfrm>
          <a:prstGeom prst="rect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86968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아쉬웠던 점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6968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9536" y="2505456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59536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81328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외부 연동 부재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481328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초반에 CSV·구글 시트를 연동했다면, </a:t>
            </a:r>
            <a:r>
              <a:rPr 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친화적으로</a:t>
            </a: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밸런스 수치 조정이 훨씬 편했을 것.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59536" y="371246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로컬라이징 미고려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81328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텍스트를 스트링 테이블로 분리하지 않아, 다국어(로컬라이징) 확장을 초기에 고려하지 못함.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9536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181344" y="1463040"/>
            <a:ext cx="5340096" cy="4617720"/>
          </a:xfrm>
          <a:prstGeom prst="roundRect">
            <a:avLst>
              <a:gd name="adj" fmla="val 2376"/>
            </a:avLst>
          </a:prstGeom>
          <a:solidFill>
            <a:srgbClr val="FCF8EE"/>
          </a:solidFill>
          <a:ln w="12700">
            <a:solidFill>
              <a:srgbClr val="C2D0AE"/>
            </a:solidFill>
            <a:prstDash val="solid"/>
          </a:ln>
          <a:effectLst>
            <a:outerShdw blurRad="88900" dist="38100" dir="5400000" algn="bl" rotWithShape="0">
              <a:srgbClr val="3A3A2A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81344" y="1463040"/>
            <a:ext cx="5340096" cy="841248"/>
          </a:xfrm>
          <a:prstGeom prst="roundRect">
            <a:avLst>
              <a:gd name="adj" fmla="val 13043"/>
            </a:avLst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181344" y="1883664"/>
            <a:ext cx="5340096" cy="420624"/>
          </a:xfrm>
          <a:prstGeom prst="rect">
            <a:avLst/>
          </a:prstGeom>
          <a:solidFill>
            <a:srgbClr val="4A65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501384" y="1591056"/>
            <a:ext cx="4700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추가하고 싶은 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01384" y="1965960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73952" y="2505456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73952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95744" y="2468880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이동 · 포탈 탐험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095744" y="2852928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레퍼런스(Stacklands)에서 재밌었던 요소 — 포탈로 다른 지역에 가서 탐험하는 콘텐츠.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73952" y="3712464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73952" y="3712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95744" y="367588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</a:t>
            </a:r>
            <a:r>
              <a:rPr lang="en-US" altLang="ko-KR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속성 시스템 확장 가능성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7095744" y="405993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태풍날씨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중 카드가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흔들릴때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돌 속성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정령카드를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올려놓으면 흔들림이 멈춤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7395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653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SpiritStack</a:t>
            </a:r>
            <a:r>
              <a:rPr lang="en-US" sz="9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카드 스태킹 생존 경영 게임</a:t>
            </a:r>
            <a:endParaRPr lang="en-US" sz="900" dirty="0"/>
          </a:p>
        </p:txBody>
      </p:sp>
      <p:sp>
        <p:nvSpPr>
          <p:cNvPr id="19" name="Shape 30">
            <a:extLst>
              <a:ext uri="{FF2B5EF4-FFF2-40B4-BE49-F238E27FC236}">
                <a16:creationId xmlns:a16="http://schemas.microsoft.com/office/drawing/2014/main" id="{44FEAE3F-FF2D-BC7C-B7FD-F1B0CA024C43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ellipse">
            <a:avLst/>
          </a:prstGeom>
          <a:solidFill>
            <a:srgbClr val="8FAE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31">
            <a:extLst>
              <a:ext uri="{FF2B5EF4-FFF2-40B4-BE49-F238E27FC236}">
                <a16:creationId xmlns:a16="http://schemas.microsoft.com/office/drawing/2014/main" id="{13032460-1017-EFFB-BDDC-6754D176BFA0}"/>
              </a:ext>
            </a:extLst>
          </p:cNvPr>
          <p:cNvSpPr/>
          <p:nvPr/>
        </p:nvSpPr>
        <p:spPr>
          <a:xfrm>
            <a:off x="6496812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22" name="Text 32">
            <a:extLst>
              <a:ext uri="{FF2B5EF4-FFF2-40B4-BE49-F238E27FC236}">
                <a16:creationId xmlns:a16="http://schemas.microsoft.com/office/drawing/2014/main" id="{ED60FB9D-A896-680C-AB4F-AF25E4FEC6AA}"/>
              </a:ext>
            </a:extLst>
          </p:cNvPr>
          <p:cNvSpPr/>
          <p:nvPr/>
        </p:nvSpPr>
        <p:spPr>
          <a:xfrm>
            <a:off x="7118604" y="4882896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정보 팝업 </a:t>
            </a:r>
            <a:r>
              <a:rPr lang="en-US" altLang="ko-KR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endParaRPr lang="en-US" sz="14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4056072-DFC8-7FA7-A0D0-D880474E84F3}"/>
              </a:ext>
            </a:extLst>
          </p:cNvPr>
          <p:cNvSpPr/>
          <p:nvPr/>
        </p:nvSpPr>
        <p:spPr>
          <a:xfrm>
            <a:off x="7118604" y="5266944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Coin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</a:t>
            </a:r>
            <a:r>
              <a:rPr lang="en-US" altLang="ko-KR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건물 카드를 </a:t>
            </a:r>
            <a:r>
              <a:rPr lang="ko-KR" altLang="en-US" sz="1200" dirty="0" err="1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집을시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정보가 나오게 구현</a:t>
            </a:r>
            <a:endParaRPr lang="en-US" sz="1200" dirty="0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4BB96F34-DE45-302F-15A6-62C502D5ACC6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ellipse">
            <a:avLst/>
          </a:prstGeom>
          <a:solidFill>
            <a:srgbClr val="C266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A7F9A73B-B330-E3EF-8C68-760EBD323AC4}"/>
              </a:ext>
            </a:extLst>
          </p:cNvPr>
          <p:cNvSpPr/>
          <p:nvPr/>
        </p:nvSpPr>
        <p:spPr>
          <a:xfrm>
            <a:off x="81153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</a:rPr>
              <a:t>3</a:t>
            </a:r>
            <a:endParaRPr lang="en-US" sz="1500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B43ACBCA-64D7-8CDA-1663-6C65DEB4D334}"/>
              </a:ext>
            </a:extLst>
          </p:cNvPr>
          <p:cNvSpPr/>
          <p:nvPr/>
        </p:nvSpPr>
        <p:spPr>
          <a:xfrm>
            <a:off x="1433322" y="4887468"/>
            <a:ext cx="4197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50" b="1" dirty="0">
                <a:solidFill>
                  <a:srgbClr val="2E3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개선</a:t>
            </a:r>
            <a:endParaRPr lang="en-US" sz="1450" dirty="0"/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2821165C-2691-88AF-B341-899A92BD8F45}"/>
              </a:ext>
            </a:extLst>
          </p:cNvPr>
          <p:cNvSpPr/>
          <p:nvPr/>
        </p:nvSpPr>
        <p:spPr>
          <a:xfrm>
            <a:off x="1433322" y="5271516"/>
            <a:ext cx="41513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게임에 있던 레시피 아이템 시스템 구현 못함</a:t>
            </a:r>
            <a:endParaRPr lang="en-US" altLang="ko-KR" sz="1200" dirty="0">
              <a:solidFill>
                <a:srgbClr val="6B6A50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l">
              <a:buNone/>
            </a:pP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레시피 </a:t>
            </a:r>
            <a:r>
              <a:rPr lang="en-US" altLang="ko-KR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UI </a:t>
            </a:r>
            <a:r>
              <a:rPr lang="ko-KR" altLang="en-US" sz="1200" dirty="0">
                <a:solidFill>
                  <a:srgbClr val="6B6A50"/>
                </a:solidFill>
                <a:latin typeface="Malgun Gothic" pitchFamily="34" charset="0"/>
                <a:ea typeface="Malgun Gothic" pitchFamily="34" charset="-122"/>
              </a:rPr>
              <a:t>개선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11612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849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Title_backgroun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492A">
              <a:alpha val="6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0" y="2331720"/>
            <a:ext cx="12188952" cy="2240280"/>
          </a:xfrm>
          <a:prstGeom prst="rect">
            <a:avLst/>
          </a:prstGeom>
          <a:solidFill>
            <a:srgbClr val="38492A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0" y="2468880"/>
            <a:ext cx="12188952" cy="1097280"/>
          </a:xfrm>
          <a:prstGeom prst="rect">
            <a:avLst/>
          </a:prstGeom>
          <a:noFill/>
          <a:ln/>
          <a:effectLst>
            <a:outerShdw blurRad="101600" dist="38100" dir="5400000" algn="bl" rotWithShape="0">
              <a:srgbClr val="1C2415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F3EB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SpiritStack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카드 스태킹 생존 경영 게임   ·   Build </a:t>
            </a:r>
            <a:r>
              <a:rPr lang="en-US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en-US" sz="1800" dirty="0">
                <a:solidFill>
                  <a:srgbClr val="E7DE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.0.0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160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AE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김지해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1350</Words>
  <Application>Microsoft Office PowerPoint</Application>
  <PresentationFormat>와이드스크린</PresentationFormat>
  <Paragraphs>348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Arial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SpiritStack 프로젝트 발표</dc:title>
  <dc:subject>PptxGenJS Presentation</dc:subject>
  <dc:creator>김지해</dc:creator>
  <cp:lastModifiedBy>배명자</cp:lastModifiedBy>
  <cp:revision>34</cp:revision>
  <dcterms:created xsi:type="dcterms:W3CDTF">2026-06-07T20:11:08Z</dcterms:created>
  <dcterms:modified xsi:type="dcterms:W3CDTF">2026-06-08T14:53:21Z</dcterms:modified>
</cp:coreProperties>
</file>