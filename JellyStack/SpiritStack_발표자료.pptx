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71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69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72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072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7894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0788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3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8.pn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9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849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Title_backgroun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773410"/>
            <a:ext cx="12188952" cy="2084590"/>
          </a:xfrm>
          <a:prstGeom prst="rect">
            <a:avLst/>
          </a:prstGeom>
          <a:solidFill>
            <a:srgbClr val="38492A">
              <a:alpha val="8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566928" y="4483380"/>
            <a:ext cx="10058400" cy="1003020"/>
          </a:xfrm>
          <a:prstGeom prst="rect">
            <a:avLst/>
          </a:prstGeom>
          <a:noFill/>
          <a:ln/>
          <a:effectLst>
            <a:outerShdw blurRad="101600" dist="38100" dir="5400000" algn="bl" rotWithShape="0">
              <a:srgbClr val="1C2415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6600" dirty="0"/>
          </a:p>
        </p:txBody>
      </p:sp>
      <p:sp>
        <p:nvSpPr>
          <p:cNvPr id="7" name="Text 4"/>
          <p:cNvSpPr/>
          <p:nvPr/>
        </p:nvSpPr>
        <p:spPr>
          <a:xfrm>
            <a:off x="621792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dirty="0">
                <a:solidFill>
                  <a:srgbClr val="F3E8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쌓아 마을을 키우는 생존 경영 시뮬레이션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621792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  </a:t>
            </a: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김지해</a:t>
            </a:r>
            <a:r>
              <a:rPr lang="en-US" sz="14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|      Build 1.0.0</a:t>
            </a:r>
            <a:endParaRPr lang="en-US" sz="1400" dirty="0"/>
          </a:p>
        </p:txBody>
      </p:sp>
      <p:pic>
        <p:nvPicPr>
          <p:cNvPr id="10" name="그림 9" descr="폰트, 그래픽, 타이포그래피, 로고이(가) 표시된 사진&#10;&#10;자동 생성된 설명">
            <a:extLst>
              <a:ext uri="{FF2B5EF4-FFF2-40B4-BE49-F238E27FC236}">
                <a16:creationId xmlns:a16="http://schemas.microsoft.com/office/drawing/2014/main" id="{1C0F649F-12F4-D429-A9F0-C1F883B102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4311" y="842799"/>
            <a:ext cx="5890562" cy="294528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순서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8096" y="1746504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68096" y="1746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53312" y="170992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게임 소개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53312" y="202082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Stacklands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" y="2386584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768096" y="2505456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68096" y="2505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53312" y="246888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 게임 소개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53312" y="2779776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핵심 게임 루프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66928" y="3145536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768096" y="3264408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768096" y="3264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53312" y="322783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범위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53312" y="353872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Scope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3904488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768096" y="4023360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768096" y="4023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53312" y="398678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일정 요약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2976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약 3.5주 개발 과정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6928" y="4663440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68096" y="4782312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68096" y="4782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353312" y="4745736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 ① 날씨 시스템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53312" y="5056632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Weather System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5422392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768096" y="5541264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768096" y="5541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53312" y="550468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 ② 주민 속성 시스템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353312" y="581558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Villager Attributes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55080" y="1627632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6556248" y="1746504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6556248" y="1746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41464" y="170992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 ③ 세계수 드롭 시스템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141464" y="202082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World Tree Drop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55080" y="2386584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6556248" y="2505456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556248" y="2505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41464" y="246888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 ④ 레시피별 이펙트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7141464" y="2779776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Recipe Effects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355080" y="3145536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6556248" y="3264408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6556248" y="3264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7141464" y="322783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구조 · 설계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7141464" y="353872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355080" y="3904488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6556248" y="4023360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6556248" y="4023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7141464" y="398678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구현 기술 2가지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7141464" y="42976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Tech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355080" y="4663440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6556248" y="4782312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/>
          <p:nvPr/>
        </p:nvSpPr>
        <p:spPr>
          <a:xfrm>
            <a:off x="6556248" y="4782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7141464" y="4745736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중 변경된 사항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7141464" y="5056632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Refactoring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355080" y="5422392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6556248" y="5541264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/>
          <p:nvPr/>
        </p:nvSpPr>
        <p:spPr>
          <a:xfrm>
            <a:off x="6556248" y="5541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7141464" y="550468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아쉬웠던 점 &amp; 향후 과제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7141464" y="581558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Retrospective · Future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134694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REFERENCE GAME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게임 — Stacklands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806440" cy="4754880"/>
          </a:xfrm>
          <a:prstGeom prst="roundRect">
            <a:avLst>
              <a:gd name="adj" fmla="val 2308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914400" y="166420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Stacklands</a:t>
            </a:r>
            <a:endParaRPr lang="en-US" sz="22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150" i="1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Sokpop Collective · 2022 · 카드 스태킹 마을 건설 / 생존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14400" y="50292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914400" y="5120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95%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914400" y="55961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압도적 긍정 평가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15768" y="50292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715768" y="5120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200+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715768" y="55961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카드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17136" y="50292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17136" y="5120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13종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4517136" y="55961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카드팩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629400" y="1417320"/>
            <a:ext cx="4992624" cy="4754880"/>
          </a:xfrm>
          <a:prstGeom prst="roundRect">
            <a:avLst>
              <a:gd name="adj" fmla="val 2308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629400" y="1627632"/>
            <a:ext cx="4992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게임의 재미 · 레퍼런스로 삼은 이유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922008" y="2167128"/>
            <a:ext cx="713232" cy="713232"/>
          </a:xfrm>
          <a:prstGeom prst="ellipse">
            <a:avLst/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0" descr="img/villag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13448" y="2240280"/>
            <a:ext cx="530352" cy="56692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7772400" y="2121408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편안한 몰입감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772400" y="2487168"/>
            <a:ext cx="3621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조작 없이 카드를 </a:t>
            </a:r>
            <a:r>
              <a:rPr lang="en-US" sz="1100" dirty="0" err="1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쌓는</a:t>
            </a: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잔잔하고</a:t>
            </a: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느긋한 플레이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922008" y="3081528"/>
            <a:ext cx="713232" cy="713232"/>
          </a:xfrm>
          <a:prstGeom prst="ellipse">
            <a:avLst/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079265" y="3154680"/>
            <a:ext cx="398718" cy="56692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772400" y="3035808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수집·조합의 재미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7772400" y="3401568"/>
            <a:ext cx="3621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수많은 카드와 숨은 조합을 발견하는 성취감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6922008" y="3995928"/>
            <a:ext cx="713232" cy="713232"/>
          </a:xfrm>
          <a:prstGeom prst="ellipse">
            <a:avLst/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2" descr="img/card_house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013448" y="4069080"/>
            <a:ext cx="530352" cy="566928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7772400" y="3950208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단순한 규칙, 깊은 성장</a:t>
            </a:r>
            <a:endParaRPr lang="en-US" sz="1450" dirty="0"/>
          </a:p>
        </p:txBody>
      </p:sp>
      <p:sp>
        <p:nvSpPr>
          <p:cNvPr id="31" name="Text 26"/>
          <p:cNvSpPr/>
          <p:nvPr/>
        </p:nvSpPr>
        <p:spPr>
          <a:xfrm>
            <a:off x="7772400" y="4315968"/>
            <a:ext cx="3621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진입 + 마을이 커지는 의미 있는 성장 루프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6922008" y="4910328"/>
            <a:ext cx="713232" cy="713232"/>
          </a:xfrm>
          <a:prstGeom prst="ellipse">
            <a:avLst/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3" descr="img/card_campfire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013448" y="4983480"/>
            <a:ext cx="530352" cy="566928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7772400" y="4864608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모험과 발견 중심의 확장</a:t>
            </a:r>
            <a:endParaRPr lang="en-US" sz="1450" dirty="0"/>
          </a:p>
        </p:txBody>
      </p:sp>
      <p:sp>
        <p:nvSpPr>
          <p:cNvPr id="35" name="Text 29"/>
          <p:cNvSpPr/>
          <p:nvPr/>
        </p:nvSpPr>
        <p:spPr>
          <a:xfrm>
            <a:off x="7772400" y="5230368"/>
            <a:ext cx="3621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곳으로 이동을 하거나 포탈을 통한 탐험 시스템</a:t>
            </a:r>
            <a:endParaRPr lang="en-US" sz="1100" dirty="0"/>
          </a:p>
        </p:txBody>
      </p:sp>
      <p:sp>
        <p:nvSpPr>
          <p:cNvPr id="37" name="Text 31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38" name="Shape 32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3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000" dirty="0"/>
          </a:p>
        </p:txBody>
      </p:sp>
      <p:pic>
        <p:nvPicPr>
          <p:cNvPr id="41" name="그림 40" descr="텍스트, 스크린샷, 지도이(가) 표시된 사진&#10;&#10;자동 생성된 설명">
            <a:extLst>
              <a:ext uri="{FF2B5EF4-FFF2-40B4-BE49-F238E27FC236}">
                <a16:creationId xmlns:a16="http://schemas.microsoft.com/office/drawing/2014/main" id="{5AB61DDA-9D03-C95D-5095-DF4329418BC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3600" y="2381635"/>
            <a:ext cx="4413096" cy="248297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OUR GAME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 — 게임 소개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41248" y="1627632"/>
            <a:ext cx="960120" cy="9601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84248" y="1481328"/>
            <a:ext cx="9418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 카드를 중심으로 자원을 모으고, 제작하고, 마을을 지켜내는 생존 경영 게임</a:t>
            </a:r>
            <a:endParaRPr lang="en-US" sz="16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쌓아 작업을 지시하고 · 하루가 지날 때마다 식량으로 주민을 먹이며 · 적의 습격과 변화하는 날씨를 버텨낸다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66928" y="303580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게임 루프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914400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img/villager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78992" y="3886200"/>
            <a:ext cx="950976" cy="95097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6928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스택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58368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 + 자원/도구 카드를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겹쳐 작업 시작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2505456" y="4023360"/>
            <a:ext cx="265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2734056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3081528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img/card_campfire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246120" y="3886200"/>
            <a:ext cx="950976" cy="9509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734056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· 제작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2825496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레시피에 따라 자원 채집,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음식 · 도구 생산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672584" y="4023360"/>
            <a:ext cx="265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17"/>
          <p:cNvSpPr/>
          <p:nvPr/>
        </p:nvSpPr>
        <p:spPr>
          <a:xfrm>
            <a:off x="4901184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5248656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img/berry-bush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413248" y="3886200"/>
            <a:ext cx="950976" cy="95097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901184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경과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4992624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2분 = 하루, 매일 주민이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식량을 소비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6839712" y="4023360"/>
            <a:ext cx="265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7068312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7415784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4" descr="img/enemy_01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580376" y="3886200"/>
            <a:ext cx="950976" cy="950976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068312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웨이브</a:t>
            </a:r>
            <a:endParaRPr lang="en-US" sz="1450" dirty="0"/>
          </a:p>
        </p:txBody>
      </p:sp>
      <p:sp>
        <p:nvSpPr>
          <p:cNvPr id="32" name="Text 25"/>
          <p:cNvSpPr/>
          <p:nvPr/>
        </p:nvSpPr>
        <p:spPr>
          <a:xfrm>
            <a:off x="7159752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포탈에서 적 출현,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주민과 자동 전투</a:t>
            </a:r>
            <a:endParaRPr lang="en-US" sz="1050" dirty="0"/>
          </a:p>
        </p:txBody>
      </p:sp>
      <p:sp>
        <p:nvSpPr>
          <p:cNvPr id="33" name="Text 26"/>
          <p:cNvSpPr/>
          <p:nvPr/>
        </p:nvSpPr>
        <p:spPr>
          <a:xfrm>
            <a:off x="9006840" y="4023360"/>
            <a:ext cx="265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34" name="Shape 27"/>
          <p:cNvSpPr/>
          <p:nvPr/>
        </p:nvSpPr>
        <p:spPr>
          <a:xfrm>
            <a:off x="9235440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8"/>
          <p:cNvSpPr/>
          <p:nvPr/>
        </p:nvSpPr>
        <p:spPr>
          <a:xfrm>
            <a:off x="9582912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5" descr="img/coin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747504" y="3886200"/>
            <a:ext cx="950976" cy="950976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9235440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경제 순환</a:t>
            </a:r>
            <a:endParaRPr lang="en-US" sz="1450" dirty="0"/>
          </a:p>
        </p:txBody>
      </p:sp>
      <p:sp>
        <p:nvSpPr>
          <p:cNvPr id="38" name="Text 30"/>
          <p:cNvSpPr/>
          <p:nvPr/>
        </p:nvSpPr>
        <p:spPr>
          <a:xfrm>
            <a:off x="9326880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판매 → 코인 →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카드팩 구매로 확장</a:t>
            </a:r>
            <a:endParaRPr lang="en-US" sz="1050" dirty="0"/>
          </a:p>
        </p:txBody>
      </p:sp>
      <p:sp>
        <p:nvSpPr>
          <p:cNvPr id="39" name="Text 31"/>
          <p:cNvSpPr/>
          <p:nvPr/>
        </p:nvSpPr>
        <p:spPr>
          <a:xfrm>
            <a:off x="566928" y="605332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반복되는 사이클 — 식량·전투·날씨를 관리하며 더 오래 생존하는 것이 목표</a:t>
            </a:r>
            <a:endParaRPr lang="en-US" sz="1200" dirty="0"/>
          </a:p>
        </p:txBody>
      </p:sp>
      <p:sp>
        <p:nvSpPr>
          <p:cNvPr id="40" name="Text 32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41" name="Shape 33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4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범위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768096" y="1847088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img/villag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59536" y="1938528"/>
            <a:ext cx="685800" cy="685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73936" y="1810512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스택 &amp; 자동 스택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773936" y="2231136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드래그·겹침, 인접 동종 카드 자동 정렬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46448" y="1554480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4547616" y="1847088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img/card_campfire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9056" y="1938528"/>
            <a:ext cx="685800" cy="6858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53456" y="1810512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 · 제작 시스템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5553456" y="2231136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 조합 → 음식·도구·건물 생산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125968" y="1554480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8327136" y="1847088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img/card_tree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18576" y="1938528"/>
            <a:ext cx="685800" cy="6858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332976" y="1810512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&amp; 랜덤 보상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9332976" y="2231136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자원 채집, 결과 확률형 드랍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66928" y="3172968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768096" y="3465576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3" descr="img/berry-bush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59536" y="3557016"/>
            <a:ext cx="685800" cy="6858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773936" y="3429000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사이클 &amp; 식량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1773936" y="3849624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2분=하루, 식량 공급·아사 처리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346448" y="3172968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1"/>
          <p:cNvSpPr/>
          <p:nvPr/>
        </p:nvSpPr>
        <p:spPr>
          <a:xfrm>
            <a:off x="4547616" y="3465576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4" descr="img/cardPack_01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639056" y="3557016"/>
            <a:ext cx="685800" cy="68580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553456" y="3429000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카드팩 시스템</a:t>
            </a:r>
            <a:endParaRPr lang="en-US" sz="1450" dirty="0"/>
          </a:p>
        </p:txBody>
      </p:sp>
      <p:sp>
        <p:nvSpPr>
          <p:cNvPr id="30" name="Text 23"/>
          <p:cNvSpPr/>
          <p:nvPr/>
        </p:nvSpPr>
        <p:spPr>
          <a:xfrm>
            <a:off x="5553456" y="3849624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스타터팩 · 가중치 확률 랜덤팩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8125968" y="3172968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5"/>
          <p:cNvSpPr/>
          <p:nvPr/>
        </p:nvSpPr>
        <p:spPr>
          <a:xfrm>
            <a:off x="8327136" y="3465576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5" descr="img/coin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418576" y="3557016"/>
            <a:ext cx="685800" cy="68580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9332976" y="3429000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상점 &amp; 코인 경제</a:t>
            </a:r>
            <a:endParaRPr lang="en-US" sz="1450" dirty="0"/>
          </a:p>
        </p:txBody>
      </p:sp>
      <p:sp>
        <p:nvSpPr>
          <p:cNvPr id="35" name="Text 27"/>
          <p:cNvSpPr/>
          <p:nvPr/>
        </p:nvSpPr>
        <p:spPr>
          <a:xfrm>
            <a:off x="9332976" y="3849624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구매/판매 거점, 코인 주머니</a:t>
            </a:r>
            <a:endParaRPr lang="en-US" sz="1100" dirty="0"/>
          </a:p>
        </p:txBody>
      </p:sp>
      <p:sp>
        <p:nvSpPr>
          <p:cNvPr id="36" name="Shape 28"/>
          <p:cNvSpPr/>
          <p:nvPr/>
        </p:nvSpPr>
        <p:spPr>
          <a:xfrm>
            <a:off x="566928" y="4791456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9"/>
          <p:cNvSpPr/>
          <p:nvPr/>
        </p:nvSpPr>
        <p:spPr>
          <a:xfrm>
            <a:off x="768096" y="5084064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6" descr="img/enemy_01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59536" y="5175504"/>
            <a:ext cx="685800" cy="685800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1773936" y="5047488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웨이브 &amp; 전투</a:t>
            </a:r>
            <a:endParaRPr lang="en-US" sz="1450" dirty="0"/>
          </a:p>
        </p:txBody>
      </p:sp>
      <p:sp>
        <p:nvSpPr>
          <p:cNvPr id="40" name="Text 31"/>
          <p:cNvSpPr/>
          <p:nvPr/>
        </p:nvSpPr>
        <p:spPr>
          <a:xfrm>
            <a:off x="1773936" y="546811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포탈 출현, 자동 전투·드랍</a:t>
            </a:r>
            <a:endParaRPr lang="en-US" sz="1100" dirty="0"/>
          </a:p>
        </p:txBody>
      </p:sp>
      <p:sp>
        <p:nvSpPr>
          <p:cNvPr id="41" name="Shape 32"/>
          <p:cNvSpPr/>
          <p:nvPr/>
        </p:nvSpPr>
        <p:spPr>
          <a:xfrm>
            <a:off x="4346448" y="4791456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3"/>
          <p:cNvSpPr/>
          <p:nvPr/>
        </p:nvSpPr>
        <p:spPr>
          <a:xfrm>
            <a:off x="4547616" y="5084064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7" descr="img/icon_weather_sunny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639056" y="5175504"/>
            <a:ext cx="685800" cy="685800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5553456" y="5047488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시스템</a:t>
            </a:r>
            <a:endParaRPr lang="en-US" sz="1450" dirty="0"/>
          </a:p>
        </p:txBody>
      </p:sp>
      <p:sp>
        <p:nvSpPr>
          <p:cNvPr id="45" name="Text 35"/>
          <p:cNvSpPr/>
          <p:nvPr/>
        </p:nvSpPr>
        <p:spPr>
          <a:xfrm>
            <a:off x="5553456" y="546811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룰렛 기반 4종 날씨 효과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8125968" y="4791456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7"/>
          <p:cNvSpPr/>
          <p:nvPr/>
        </p:nvSpPr>
        <p:spPr>
          <a:xfrm>
            <a:off x="8327136" y="5084064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8" descr="img/card_storage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8418576" y="5175504"/>
            <a:ext cx="685800" cy="685800"/>
          </a:xfrm>
          <a:prstGeom prst="rect">
            <a:avLst/>
          </a:prstGeom>
        </p:spPr>
      </p:pic>
      <p:sp>
        <p:nvSpPr>
          <p:cNvPr id="49" name="Text 38"/>
          <p:cNvSpPr/>
          <p:nvPr/>
        </p:nvSpPr>
        <p:spPr>
          <a:xfrm>
            <a:off x="9332976" y="5047488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세이브 / 로드</a:t>
            </a:r>
            <a:endParaRPr lang="en-US" sz="1450" dirty="0"/>
          </a:p>
        </p:txBody>
      </p:sp>
      <p:sp>
        <p:nvSpPr>
          <p:cNvPr id="50" name="Text 39"/>
          <p:cNvSpPr/>
          <p:nvPr/>
        </p:nvSpPr>
        <p:spPr>
          <a:xfrm>
            <a:off x="9332976" y="546811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게임 상태 저장·복원</a:t>
            </a:r>
            <a:endParaRPr lang="en-US" sz="1100" dirty="0"/>
          </a:p>
        </p:txBody>
      </p:sp>
      <p:sp>
        <p:nvSpPr>
          <p:cNvPr id="51" name="Text 40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52" name="Shape 41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2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TIMELINE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일정 요약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98448" y="10972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05. 14  ~  06. 07   ·   약 3.5주 · 101 커밋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79192" cy="4434840"/>
          </a:xfrm>
          <a:prstGeom prst="roundRect">
            <a:avLst>
              <a:gd name="adj" fmla="val 409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66928" y="1600200"/>
            <a:ext cx="2679192" cy="1078992"/>
          </a:xfrm>
          <a:prstGeom prst="roundRect">
            <a:avLst>
              <a:gd name="adj" fmla="val 10169"/>
            </a:avLst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66928" y="2240280"/>
            <a:ext cx="2679192" cy="438912"/>
          </a:xfrm>
          <a:prstGeom prst="rect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49808" y="17465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49808" y="2002536"/>
            <a:ext cx="2313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05.14 ~ 05.19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" y="227685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 구축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86384" y="2898648"/>
            <a:ext cx="225856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셋팅 · 폴더 구조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UI 출력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줌·이동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PlayerInput 입력 시스템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64992" y="1600200"/>
            <a:ext cx="2679192" cy="4434840"/>
          </a:xfrm>
          <a:prstGeom prst="roundRect">
            <a:avLst>
              <a:gd name="adj" fmla="val 409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3364992" y="1600200"/>
            <a:ext cx="2679192" cy="1078992"/>
          </a:xfrm>
          <a:prstGeom prst="roundRect">
            <a:avLst>
              <a:gd name="adj" fmla="val 10169"/>
            </a:avLst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3364992" y="2240280"/>
            <a:ext cx="2679192" cy="438912"/>
          </a:xfrm>
          <a:prstGeom prst="rect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3547872" y="17465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47872" y="2002536"/>
            <a:ext cx="2313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05.20 ~ 05.25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47872" y="227685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 게임플레이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584448" y="2898648"/>
            <a:ext cx="225856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· 레시피 조합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인접 카드 자동 스택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스타터 카드팩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사이클 · 식량 · 게임오버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63056" y="1600200"/>
            <a:ext cx="2679192" cy="4434840"/>
          </a:xfrm>
          <a:prstGeom prst="roundRect">
            <a:avLst>
              <a:gd name="adj" fmla="val 409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163056" y="1600200"/>
            <a:ext cx="2679192" cy="1078992"/>
          </a:xfrm>
          <a:prstGeom prst="roundRect">
            <a:avLst>
              <a:gd name="adj" fmla="val 10169"/>
            </a:avLst>
          </a:prstGeom>
          <a:solidFill>
            <a:srgbClr val="E0A2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6163056" y="2240280"/>
            <a:ext cx="2679192" cy="438912"/>
          </a:xfrm>
          <a:prstGeom prst="rect">
            <a:avLst/>
          </a:prstGeom>
          <a:solidFill>
            <a:srgbClr val="E0A2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6345936" y="17465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345936" y="2002536"/>
            <a:ext cx="2313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05.26 ~ 06.01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45936" y="227685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확장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382512" y="2898648"/>
            <a:ext cx="225856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상점 · 코인 경제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카드팩 확률 시스템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시스템 · 포탈 · 전투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시스템 (4종)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961120" y="1600200"/>
            <a:ext cx="2679192" cy="4434840"/>
          </a:xfrm>
          <a:prstGeom prst="roundRect">
            <a:avLst>
              <a:gd name="adj" fmla="val 409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8961120" y="1600200"/>
            <a:ext cx="2679192" cy="1078992"/>
          </a:xfrm>
          <a:prstGeom prst="roundRect">
            <a:avLst>
              <a:gd name="adj" fmla="val 10169"/>
            </a:avLst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8961120" y="2240280"/>
            <a:ext cx="2679192" cy="438912"/>
          </a:xfrm>
          <a:prstGeom prst="rect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9144000" y="17465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4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144000" y="2002536"/>
            <a:ext cx="2313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06.02 ~ 06.07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144000" y="227685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완성도 · 저장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180576" y="2898648"/>
            <a:ext cx="225856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씬 · 카드 제약/최대수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세이브 / 로드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창고 → 최대 카드 수 증가</a:t>
            </a:r>
            <a:endParaRPr lang="en-US" sz="1200" dirty="0"/>
          </a:p>
          <a:p>
            <a:pPr marL="177800" indent="-1778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이펙트 · 사운드 · UI 보강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1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DIFFERENTIATOR ①  · </a:t>
            </a:r>
            <a:r>
              <a:rPr lang="en-US" altLang="ko-KR" sz="1150" b="1" kern="0" spc="200" dirty="0" err="1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레퍼런스와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시스템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08760"/>
            <a:ext cx="3657600" cy="4663440"/>
          </a:xfrm>
          <a:prstGeom prst="roundRect">
            <a:avLst>
              <a:gd name="adj" fmla="val 3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img/Roulett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61288" y="1828800"/>
            <a:ext cx="2468880" cy="2468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9808" y="45262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7일마다 룰렛 추첨</a:t>
            </a:r>
            <a:endParaRPr lang="en-US" sz="150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날씨를 무작위로 결정하고</a:t>
            </a:r>
            <a:endParaRPr lang="en-US" sz="150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3일 동안 효과가 지속된다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0" y="1508760"/>
            <a:ext cx="338785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4828032" y="1892808"/>
            <a:ext cx="1371600" cy="1371600"/>
          </a:xfrm>
          <a:prstGeom prst="ellipse">
            <a:avLst/>
          </a:prstGeom>
          <a:solidFill>
            <a:srgbClr val="FBE7B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img/icon_weather_sunny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29200" y="2093976"/>
            <a:ext cx="969264" cy="9692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355080" y="1892808"/>
            <a:ext cx="1467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B784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맑음 (Sunny)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355080" y="2404872"/>
            <a:ext cx="14218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결과 30% 확률로 2배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234172" y="1508760"/>
            <a:ext cx="338785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8490204" y="1892808"/>
            <a:ext cx="1371600" cy="1371600"/>
          </a:xfrm>
          <a:prstGeom prst="ellipse">
            <a:avLst/>
          </a:prstGeom>
          <a:solidFill>
            <a:srgbClr val="CFE3F2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img/icon_weather_rain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691372" y="2093976"/>
            <a:ext cx="969264" cy="9692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017252" y="1892808"/>
            <a:ext cx="1467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3E6B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 (Rain)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0017252" y="2404872"/>
            <a:ext cx="14218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속도 1.5배 가속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4572000" y="3977640"/>
            <a:ext cx="338785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5"/>
          <p:cNvSpPr/>
          <p:nvPr/>
        </p:nvSpPr>
        <p:spPr>
          <a:xfrm>
            <a:off x="4828032" y="4361688"/>
            <a:ext cx="1371600" cy="1371600"/>
          </a:xfrm>
          <a:prstGeom prst="ellipse">
            <a:avLst/>
          </a:prstGeom>
          <a:solidFill>
            <a:srgbClr val="E2ECF4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img/icon_weather_snow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029200" y="4562856"/>
            <a:ext cx="969264" cy="96926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355080" y="4361688"/>
            <a:ext cx="1467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5E7C9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 (Snow)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6355080" y="4873752"/>
            <a:ext cx="14218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카드 2장 빙결 → 사용 불가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8234172" y="3977640"/>
            <a:ext cx="338785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8490204" y="4361688"/>
            <a:ext cx="1371600" cy="1371600"/>
          </a:xfrm>
          <a:prstGeom prst="ellipse">
            <a:avLst/>
          </a:prstGeom>
          <a:solidFill>
            <a:srgbClr val="D8D6E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img/icon_weather_storm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691372" y="4562856"/>
            <a:ext cx="969264" cy="96926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0017252" y="4361688"/>
            <a:ext cx="1467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5B55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폭풍 (Storm)</a:t>
            </a:r>
            <a:endParaRPr lang="en-US" sz="1700" dirty="0"/>
          </a:p>
        </p:txBody>
      </p:sp>
      <p:sp>
        <p:nvSpPr>
          <p:cNvPr id="28" name="Text 21"/>
          <p:cNvSpPr/>
          <p:nvPr/>
        </p:nvSpPr>
        <p:spPr>
          <a:xfrm>
            <a:off x="10017252" y="4873752"/>
            <a:ext cx="14218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흔들림, 매일 1장씩 날아감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30" name="Shape 23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4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DIFFERENTIATOR ②  · </a:t>
            </a:r>
            <a:r>
              <a:rPr lang="en-US" altLang="ko-KR" sz="1150" b="1" kern="0" spc="200" dirty="0" err="1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레퍼런스와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 속성 시스템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417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4가지 속성 주민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1627632" cy="2057400"/>
          </a:xfrm>
          <a:prstGeom prst="roundRect">
            <a:avLst>
              <a:gd name="adj" fmla="val 6742"/>
            </a:avLst>
          </a:prstGeom>
          <a:solidFill>
            <a:srgbClr val="ECE6D6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img/villag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77824" y="2029968"/>
            <a:ext cx="100584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31546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(Normal)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2377440" y="1828800"/>
            <a:ext cx="1627632" cy="2057400"/>
          </a:xfrm>
          <a:prstGeom prst="roundRect">
            <a:avLst>
              <a:gd name="adj" fmla="val 6742"/>
            </a:avLst>
          </a:prstGeom>
          <a:solidFill>
            <a:srgbClr val="FCE3D2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img/Villager_Fire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688336" y="2029968"/>
            <a:ext cx="1005840" cy="10058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377440" y="31546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 (Fire)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4187952" y="1828800"/>
            <a:ext cx="1627632" cy="2057400"/>
          </a:xfrm>
          <a:prstGeom prst="roundRect">
            <a:avLst>
              <a:gd name="adj" fmla="val 6742"/>
            </a:avLst>
          </a:prstGeom>
          <a:solidFill>
            <a:srgbClr val="D6E8F2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img/Villager_Water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498848" y="2029968"/>
            <a:ext cx="1005840" cy="10058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87952" y="31546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 (Water)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5998464" y="1828800"/>
            <a:ext cx="1627632" cy="2057400"/>
          </a:xfrm>
          <a:prstGeom prst="roundRect">
            <a:avLst>
              <a:gd name="adj" fmla="val 6742"/>
            </a:avLst>
          </a:prstGeom>
          <a:solidFill>
            <a:srgbClr val="E4E0D6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img/Villager_Stone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309360" y="2029968"/>
            <a:ext cx="1005840" cy="100584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998464" y="31546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 (Stone)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566928" y="3977640"/>
            <a:ext cx="7040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C623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VillagerType { Normal, Fire, Water, Stone }  +  속성별 외형·특성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566928" y="4434840"/>
            <a:ext cx="7040880" cy="1737360"/>
          </a:xfrm>
          <a:prstGeom prst="roundRect">
            <a:avLst>
              <a:gd name="adj" fmla="val 631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4" descr="img/baby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41248" y="4709160"/>
            <a:ext cx="1143000" cy="11430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2167128" y="461772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아기 → 성장 시스템</a:t>
            </a:r>
            <a:endParaRPr lang="en-US" sz="15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아기 카드는 채집·제작에 참여하지 못하며, 3일이 지나면 성인 주민(adultData)으로 성장한다.</a:t>
            </a:r>
            <a:endParaRPr lang="en-US" sz="1500" dirty="0"/>
          </a:p>
        </p:txBody>
      </p:sp>
      <p:sp>
        <p:nvSpPr>
          <p:cNvPr id="23" name="Shape 16"/>
          <p:cNvSpPr/>
          <p:nvPr/>
        </p:nvSpPr>
        <p:spPr>
          <a:xfrm>
            <a:off x="7726680" y="1417320"/>
            <a:ext cx="3886200" cy="4754880"/>
          </a:xfrm>
          <a:prstGeom prst="roundRect">
            <a:avLst>
              <a:gd name="adj" fmla="val 2824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/>
          <p:nvPr/>
        </p:nvSpPr>
        <p:spPr>
          <a:xfrm>
            <a:off x="7726680" y="164592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주민이 가지는 스탯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7955280" y="2148840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9"/>
          <p:cNvSpPr/>
          <p:nvPr/>
        </p:nvSpPr>
        <p:spPr>
          <a:xfrm>
            <a:off x="8138160" y="22219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체력 (Health)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8138160" y="2514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적의 공격으로 감소</a:t>
            </a:r>
            <a:endParaRPr 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7955280" y="2953512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2"/>
          <p:cNvSpPr/>
          <p:nvPr/>
        </p:nvSpPr>
        <p:spPr>
          <a:xfrm>
            <a:off x="8138160" y="30266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배고픔 (Hunger)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8138160" y="33192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증가, 0이면 사망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7955280" y="3758184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5"/>
          <p:cNvSpPr/>
          <p:nvPr/>
        </p:nvSpPr>
        <p:spPr>
          <a:xfrm>
            <a:off x="8138160" y="383133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공격력 (Attack)</a:t>
            </a:r>
            <a:endParaRPr lang="en-US" sz="1300" dirty="0"/>
          </a:p>
        </p:txBody>
      </p:sp>
      <p:sp>
        <p:nvSpPr>
          <p:cNvPr id="33" name="Text 26"/>
          <p:cNvSpPr/>
          <p:nvPr/>
        </p:nvSpPr>
        <p:spPr>
          <a:xfrm>
            <a:off x="8138160" y="41239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전투 시 적에게 피해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7955280" y="4562856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8"/>
          <p:cNvSpPr/>
          <p:nvPr/>
        </p:nvSpPr>
        <p:spPr>
          <a:xfrm>
            <a:off x="8138160" y="463600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속도 (Work Speed)</a:t>
            </a:r>
            <a:endParaRPr lang="en-US" sz="1300" dirty="0"/>
          </a:p>
        </p:txBody>
      </p:sp>
      <p:sp>
        <p:nvSpPr>
          <p:cNvPr id="36" name="Text 29"/>
          <p:cNvSpPr/>
          <p:nvPr/>
        </p:nvSpPr>
        <p:spPr>
          <a:xfrm>
            <a:off x="8138160" y="49286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 소요시간 단축</a:t>
            </a:r>
            <a:endParaRPr lang="en-US" sz="1050" dirty="0"/>
          </a:p>
        </p:txBody>
      </p:sp>
      <p:sp>
        <p:nvSpPr>
          <p:cNvPr id="37" name="Shape 30"/>
          <p:cNvSpPr/>
          <p:nvPr/>
        </p:nvSpPr>
        <p:spPr>
          <a:xfrm>
            <a:off x="7955280" y="5367528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1"/>
          <p:cNvSpPr/>
          <p:nvPr/>
        </p:nvSpPr>
        <p:spPr>
          <a:xfrm>
            <a:off x="8138160" y="54406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공격 간격 (Interval)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8138160" y="5733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전투 공격 주기</a:t>
            </a:r>
            <a:endParaRPr lang="en-US" sz="1050" dirty="0"/>
          </a:p>
        </p:txBody>
      </p:sp>
      <p:sp>
        <p:nvSpPr>
          <p:cNvPr id="40" name="Text 33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41" name="Shape 34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5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DIFFERENTIATOR ③  · </a:t>
            </a:r>
            <a:r>
              <a:rPr lang="en-US" altLang="ko-KR" sz="1150" b="1" kern="0" spc="200" dirty="0" err="1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레퍼런스와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세계수 랜덤 드롭 시스템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200400" cy="4617720"/>
          </a:xfrm>
          <a:prstGeom prst="roundRect">
            <a:avLst>
              <a:gd name="adj" fmla="val 342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img/card_worldTre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61288" y="1874520"/>
            <a:ext cx="2011680" cy="2011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세계수 카드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49808" y="4498848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필드에 랜덤으로 생성되어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5번 채집할 수 있는 나무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069080" y="1481328"/>
            <a:ext cx="7552944" cy="2788920"/>
          </a:xfrm>
          <a:prstGeom prst="roundRect">
            <a:avLst>
              <a:gd name="adj" fmla="val 3934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4343400" y="1609344"/>
            <a:ext cx="7004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세계수 채집  →  매번 랜덤 드롭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26280" y="19933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랜덤 드롭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26280" y="2286000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1" descr="img/woo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00600" y="2395728"/>
            <a:ext cx="868680" cy="8686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26280" y="331012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통나무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035040" y="2286000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img/card_fairyHerb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309360" y="2395728"/>
            <a:ext cx="868680" cy="8686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035040" y="331012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요정허브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7498080" y="26060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20" name="Shape 15"/>
          <p:cNvSpPr/>
          <p:nvPr/>
        </p:nvSpPr>
        <p:spPr>
          <a:xfrm>
            <a:off x="8275320" y="2286000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F7F1E1"/>
          </a:solidFill>
          <a:ln w="25400">
            <a:solidFill>
              <a:srgbClr val="E0A23A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img/card_fairySoup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549640" y="2395728"/>
            <a:ext cx="868680" cy="8686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275320" y="331012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요정 스프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9829800" y="2542032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요정허브로 만드는</a:t>
            </a:r>
            <a:endParaRPr lang="en-US" sz="1150" dirty="0"/>
          </a:p>
          <a:p>
            <a:pPr marL="0" indent="0" algn="l">
              <a:buNone/>
            </a:pPr>
            <a:r>
              <a:rPr lang="en-US" sz="1150" b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음식 카드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069080" y="4453128"/>
            <a:ext cx="7552944" cy="1645920"/>
          </a:xfrm>
          <a:prstGeom prst="roundRect">
            <a:avLst>
              <a:gd name="adj" fmla="val 6667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/>
          <p:nvPr/>
        </p:nvSpPr>
        <p:spPr>
          <a:xfrm>
            <a:off x="4361688" y="4617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추가했나?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4361688" y="5010912"/>
            <a:ext cx="69677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음식 카드의 종류가 부족했던 상황에서, 플레이어에게 새로운 음식 공급원이자 하나의 즐길 거리(콘텐츠)를 제공하고자 — 세계수 → 요정허브 → 요정 스프로 이어지는 채집·제작 경로를 추가했다.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EA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DIFFERENTIATOR ④  ·  </a:t>
            </a:r>
            <a:r>
              <a:rPr lang="en-US" sz="1150" b="1" kern="0" spc="200" dirty="0" err="1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레퍼런스와</a:t>
            </a: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</a:t>
            </a: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레시피별 맞춤 이펙트 연출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4114800" cy="4617720"/>
          </a:xfrm>
          <a:prstGeom prst="roundRect">
            <a:avLst>
              <a:gd name="adj" fmla="val 2667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66928" y="1783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작업마다 다른 ‘손맛’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2331720"/>
            <a:ext cx="3474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14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스택해 작업할 때, 진행 중인 작업 종류에 맞는 전용 파티클 이펙트가 카드 위에서 재생된다.</a:t>
            </a:r>
            <a:endParaRPr lang="en-US" sz="14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방식</a:t>
            </a:r>
            <a:endParaRPr lang="en-US" sz="14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125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레시피·채집 데이터마다 effectPrefab 을 지정 → ProgressTask 가 작업 중 해당 이펙트를 생성</a:t>
            </a:r>
            <a:endParaRPr lang="en-US" sz="14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차별점인가</a:t>
            </a:r>
            <a:endParaRPr lang="en-US" sz="140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진행 바를 넘어 — 무슨 작업인지 한눈에 보이고, 타격감과 게임의 생동감을 더한다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892040" y="1481328"/>
            <a:ext cx="322783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5129784" y="1847088"/>
            <a:ext cx="1371600" cy="1371600"/>
          </a:xfrm>
          <a:prstGeom prst="ellipse">
            <a:avLst/>
          </a:prstGeom>
          <a:solidFill>
            <a:srgbClr val="DCE7C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img/card_tre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349240" y="2048256"/>
            <a:ext cx="932688" cy="93268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675120" y="1865376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나무 채집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675120" y="2377440"/>
            <a:ext cx="1261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도끼로 패듯 나무 조각이 사방으로 흩뿌려진다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394192" y="1481328"/>
            <a:ext cx="322783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8631936" y="1847088"/>
            <a:ext cx="1371600" cy="1371600"/>
          </a:xfrm>
          <a:prstGeom prst="ellipse">
            <a:avLst/>
          </a:prstGeom>
          <a:solidFill>
            <a:srgbClr val="E6E1D4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img/card_rock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851392" y="2048256"/>
            <a:ext cx="932688" cy="93268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0177272" y="1865376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6B6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 캐기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10177272" y="2377440"/>
            <a:ext cx="1261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단단한 돌 조각이 튀어 오른다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4892040" y="3904488"/>
            <a:ext cx="322783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5129784" y="4270248"/>
            <a:ext cx="1371600" cy="1371600"/>
          </a:xfrm>
          <a:prstGeom prst="ellipse">
            <a:avLst/>
          </a:prstGeom>
          <a:solidFill>
            <a:srgbClr val="D8EB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img/berry-bush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349240" y="4471416"/>
            <a:ext cx="932688" cy="93268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675120" y="4288536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열매 채집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6675120" y="4800600"/>
            <a:ext cx="1261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덤불에서 잎과 열매가 흩날린다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8394192" y="3904488"/>
            <a:ext cx="322783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0"/>
          <p:cNvSpPr/>
          <p:nvPr/>
        </p:nvSpPr>
        <p:spPr>
          <a:xfrm>
            <a:off x="8631936" y="4270248"/>
            <a:ext cx="1371600" cy="1371600"/>
          </a:xfrm>
          <a:prstGeom prst="ellipse">
            <a:avLst/>
          </a:prstGeom>
          <a:solidFill>
            <a:srgbClr val="EDE3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3" descr="img/card_house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851392" y="4471416"/>
            <a:ext cx="932688" cy="93268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0177272" y="4288536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건설 · 제작</a:t>
            </a:r>
            <a:endParaRPr lang="en-US" sz="1700" dirty="0"/>
          </a:p>
        </p:txBody>
      </p:sp>
      <p:sp>
        <p:nvSpPr>
          <p:cNvPr id="28" name="Text 22"/>
          <p:cNvSpPr/>
          <p:nvPr/>
        </p:nvSpPr>
        <p:spPr>
          <a:xfrm>
            <a:off x="10177272" y="4800600"/>
            <a:ext cx="1261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완성을 알리는 제작 연출이 피어난다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5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구조 · 설계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7955280" cy="1298448"/>
          </a:xfrm>
          <a:prstGeom prst="roundRect">
            <a:avLst>
              <a:gd name="adj" fmla="val 704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2212848" y="1554480"/>
            <a:ext cx="457200" cy="1298448"/>
          </a:xfrm>
          <a:prstGeom prst="rect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31520" y="18470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Manager 계층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31520" y="2267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Singleton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52928" y="1737360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852928" y="1737360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GameManager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58818" y="1737360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258818" y="1737360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DayManager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64708" y="1737360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664708" y="1737360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WeatherManager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70598" y="1737360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7070598" y="1737360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RecipeManager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852928" y="2249424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2852928" y="2249424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EnemyManager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258818" y="2249424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258818" y="2249424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SoundManager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708" y="2249424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5664708" y="2249424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SettlementManager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0598" y="2249424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070598" y="2249424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InputManager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3035808"/>
            <a:ext cx="7955280" cy="1298448"/>
          </a:xfrm>
          <a:prstGeom prst="roundRect">
            <a:avLst>
              <a:gd name="adj" fmla="val 704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566928" y="3035808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0A2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2212848" y="3035808"/>
            <a:ext cx="457200" cy="1298448"/>
          </a:xfrm>
          <a:prstGeom prst="rect">
            <a:avLst/>
          </a:prstGeom>
          <a:solidFill>
            <a:srgbClr val="E0A2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731520" y="332841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계층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731520" y="37490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ScriptableObject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852928" y="3218688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2852928" y="321868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CardData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27448" y="3218688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4727448" y="321868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VillagerCardData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601968" y="3218688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601968" y="321868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EnemyCardData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852928" y="3730752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2852928" y="373075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CardRecipe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27448" y="3730752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4727448" y="373075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CardPackData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601968" y="3730752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6601968" y="373075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WeatherType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6928" y="4517136"/>
            <a:ext cx="7955280" cy="1298448"/>
          </a:xfrm>
          <a:prstGeom prst="roundRect">
            <a:avLst>
              <a:gd name="adj" fmla="val 704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566928" y="4517136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2212848" y="4517136"/>
            <a:ext cx="457200" cy="1298448"/>
          </a:xfrm>
          <a:prstGeom prst="rect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731520" y="48097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Card · UI · 런타임</a:t>
            </a:r>
            <a:endParaRPr lang="en-US" sz="1550" dirty="0"/>
          </a:p>
        </p:txBody>
      </p:sp>
      <p:sp>
        <p:nvSpPr>
          <p:cNvPr id="48" name="Text 46"/>
          <p:cNvSpPr/>
          <p:nvPr/>
        </p:nvSpPr>
        <p:spPr>
          <a:xfrm>
            <a:off x="731520" y="52303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MonoBehaviour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2852928" y="4700016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/>
          <p:nvPr/>
        </p:nvSpPr>
        <p:spPr>
          <a:xfrm>
            <a:off x="2852928" y="470001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 / VillagerCard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727448" y="4700016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/>
          <p:nvPr/>
        </p:nvSpPr>
        <p:spPr>
          <a:xfrm>
            <a:off x="4727448" y="470001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CardStack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601968" y="4700016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/>
          <p:nvPr/>
        </p:nvSpPr>
        <p:spPr>
          <a:xfrm>
            <a:off x="6601968" y="470001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ProgressTask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2852928" y="5212080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/>
          <p:nvPr/>
        </p:nvSpPr>
        <p:spPr>
          <a:xfrm>
            <a:off x="2852928" y="521208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ResourceCardUI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727448" y="5212080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/>
          <p:nvPr/>
        </p:nvSpPr>
        <p:spPr>
          <a:xfrm>
            <a:off x="4727448" y="521208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UI_Ingame / RecipeBook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8750808" y="1554480"/>
            <a:ext cx="2871216" cy="4078224"/>
          </a:xfrm>
          <a:prstGeom prst="roundRect">
            <a:avLst>
              <a:gd name="adj" fmla="val 3822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/>
          <p:nvPr/>
        </p:nvSpPr>
        <p:spPr>
          <a:xfrm>
            <a:off x="8750808" y="1783080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포인트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9025128" y="2240280"/>
            <a:ext cx="2368296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기반 결합</a:t>
            </a:r>
            <a:endParaRPr lang="en-US" sz="1300" dirty="0"/>
          </a:p>
          <a:p>
            <a:pPr marL="0" indent="0" algn="l">
              <a:spcAft>
                <a:spcPts val="1000"/>
              </a:spcAft>
              <a:buNone/>
            </a:pPr>
            <a:r>
              <a:rPr lang="en-US" sz="115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OnDayChanged · OnWeatherDetermined 으로 매니저 간 느슨한 연결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코루틴 비동기 흐름</a:t>
            </a:r>
            <a:endParaRPr lang="en-US" sz="1300" dirty="0"/>
          </a:p>
          <a:p>
            <a:pPr marL="0" indent="0" algn="l">
              <a:spcAft>
                <a:spcPts val="1000"/>
              </a:spcAft>
              <a:buNone/>
            </a:pPr>
            <a:r>
              <a:rPr lang="en-US" sz="115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웨이브 · 룰렛 · 세이브 복원을 코루틴으로 단계 실행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주도 콘텐츠</a:t>
            </a:r>
            <a:endParaRPr lang="en-US" sz="130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카드·레시피·팩을 에셋으로 정의해 코드와 분리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TECHNOLOGY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구현 기술 2가지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66928" y="2103120"/>
            <a:ext cx="5440680" cy="502920"/>
          </a:xfrm>
          <a:prstGeom prst="rect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9DB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709928" y="1719072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ScriptableObject 데이터 기반 설계</a:t>
            </a:r>
            <a:endParaRPr lang="en-US" sz="17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Data-Driven Design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2688" y="2926080"/>
            <a:ext cx="4709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내용을 ‘데이터 파일’로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카드·레시피·날씨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같은 요소를 코드가 아닌 데이터로 </a:t>
            </a: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관리한다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algn="l">
              <a:buSzPct val="100000"/>
            </a:pPr>
            <a:endParaRPr lang="en-US" sz="1450" dirty="0"/>
          </a:p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수정이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빠르다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코드를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건드리지 않고 데이터만 바꿔 수치·확률을 바로 조정 → 밸런싱이 </a:t>
            </a: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쉽다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algn="l">
              <a:buSzPct val="100000"/>
            </a:pPr>
            <a:endParaRPr lang="en-US" sz="1450" dirty="0"/>
          </a:p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추가·재사용이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쉽다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algn="l">
              <a:buSzPct val="100000"/>
            </a:pP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카드를 넣어도 기존 코드를 거의 고칠 필요가 없다.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281928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281928" y="155448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281928" y="2103120"/>
            <a:ext cx="5440680" cy="502920"/>
          </a:xfrm>
          <a:prstGeom prst="rect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556248" y="173736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0BE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424928" y="1719072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고유 스택 관리 시스템</a:t>
            </a:r>
            <a:endParaRPr lang="en-US" sz="17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Card Stacking System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647688" y="2926080"/>
            <a:ext cx="4709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더미를 한 묶음으로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카드들을 자동으로 가지런히 정렬해 </a:t>
            </a: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algn="l">
              <a:buSzPct val="100000"/>
            </a:pPr>
            <a:endParaRPr lang="en-US" sz="1450" dirty="0"/>
          </a:p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집고 놓으면 알아서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내려놓으면 가까운 더미에 저절로 합쳐지고, 같은 카드는 자동으로 </a:t>
            </a: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algn="l">
              <a:buSzPct val="100000"/>
            </a:pPr>
            <a:endParaRPr lang="en-US" sz="1450" dirty="0"/>
          </a:p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스택에 규칙이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주민은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항상 맨 위에 놓이고, 적·얼린 카드는 합쳐지지 않는다.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REFACTORING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중 변경된 구조 · 구현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60020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822960" y="2057400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22960" y="2039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↻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35608" y="18013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시스템 전환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435608" y="220370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InputManager → Unity PlayerInput System 으로 교체해 입력 처리를 표준화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6208" y="160020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492240" y="2057400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92240" y="2039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↻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104888" y="18013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코드 구조 개편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7104888" y="220370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스타터 카드팩 구현 중 카드/데이터 구조를 재정비 (커밋: ‘코드 구조개편’)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20040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822960" y="3657600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22960" y="3639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↻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35608" y="34015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채집물 구조 변경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1435608" y="380390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드랍 아이템 도입과 함께 채집 결과물 처리 구조를 재설계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36208" y="320040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492240" y="3657600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6492240" y="3639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↻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104888" y="34015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결과 랜덤화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7104888" y="380390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보상 → 확률 기반 랜덤 보상 시스템으로 변경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80060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822960" y="5257800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822960" y="5239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↻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435608" y="5001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최대 개수 제약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1435608" y="540410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최대 수 도입 + 창고(Storage) 카드 보유 시 상한 증가 규칙 추가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6208" y="480060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6492240" y="5257800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492240" y="5239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↻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104888" y="5001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렌더링·저장 보강</a:t>
            </a:r>
            <a:endParaRPr lang="en-US" sz="1550" dirty="0"/>
          </a:p>
        </p:txBody>
      </p:sp>
      <p:sp>
        <p:nvSpPr>
          <p:cNvPr id="35" name="Text 33"/>
          <p:cNvSpPr/>
          <p:nvPr/>
        </p:nvSpPr>
        <p:spPr>
          <a:xfrm>
            <a:off x="7104888" y="540410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URP 도입으로 이펙트 강화, 후반 세이브 시스템 추가에 맞춰 매니저 지속 보강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 · FUTURE WORK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아쉬웠던 점 &amp; </a:t>
            </a:r>
            <a:r>
              <a:rPr lang="en-US" sz="270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</a:t>
            </a: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추가하고 싶은 것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5340096" cy="4617720"/>
          </a:xfrm>
          <a:prstGeom prst="roundRect">
            <a:avLst>
              <a:gd name="adj" fmla="val 237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5340096" cy="841248"/>
          </a:xfrm>
          <a:prstGeom prst="roundRect">
            <a:avLst>
              <a:gd name="adj" fmla="val 13043"/>
            </a:avLst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5340096" cy="420624"/>
          </a:xfrm>
          <a:prstGeom prst="rect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86968" y="1591056"/>
            <a:ext cx="4700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아쉬웠던 점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86968" y="1965960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Lessons Learned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59536" y="2505456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59536" y="2505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81328" y="2468880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외부 연동 부재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481328" y="2852928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초반에 CSV·구글 시트를 연동했다면, 협업 시 밸런스 수치 조정이 훨씬 편했을 것.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59536" y="3712464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59536" y="3712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81328" y="3675888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로컬라이징 미고려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81328" y="4059936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텍스트를 스트링 테이블로 분리하지 않아, 다국어(로컬라이징) 확장을 초기에 고려하지 못함.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59536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181344" y="1463040"/>
            <a:ext cx="5340096" cy="4617720"/>
          </a:xfrm>
          <a:prstGeom prst="roundRect">
            <a:avLst>
              <a:gd name="adj" fmla="val 237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181344" y="1463040"/>
            <a:ext cx="5340096" cy="841248"/>
          </a:xfrm>
          <a:prstGeom prst="roundRect">
            <a:avLst>
              <a:gd name="adj" fmla="val 13043"/>
            </a:avLst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181344" y="1883664"/>
            <a:ext cx="5340096" cy="420624"/>
          </a:xfrm>
          <a:prstGeom prst="rect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501384" y="1591056"/>
            <a:ext cx="4700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추가하고 싶은 것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501384" y="1965960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Work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73952" y="2505456"/>
            <a:ext cx="457200" cy="457200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473952" y="2505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095744" y="2468880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이동 · 포탈 탐험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7095744" y="2852928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레퍼런스(Stacklands)에서 재밌었던 요소 — 포탈로 다른 지역에 가서 탐험하는 콘텐츠.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73952" y="3712464"/>
            <a:ext cx="457200" cy="457200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473952" y="3712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095744" y="3675888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로컬라이징 파이프라인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7095744" y="4059936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CSV·시트 연동과 스트링 테이블을 도입해 밸런싱·다국어를 체계화 (위 아쉬운 점 개선).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73952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566928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19" name="Shape 30">
            <a:extLst>
              <a:ext uri="{FF2B5EF4-FFF2-40B4-BE49-F238E27FC236}">
                <a16:creationId xmlns:a16="http://schemas.microsoft.com/office/drawing/2014/main" id="{44FEAE3F-FF2D-BC7C-B7FD-F1B0CA024C43}"/>
              </a:ext>
            </a:extLst>
          </p:cNvPr>
          <p:cNvSpPr/>
          <p:nvPr/>
        </p:nvSpPr>
        <p:spPr>
          <a:xfrm>
            <a:off x="6496812" y="4919472"/>
            <a:ext cx="457200" cy="457200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31">
            <a:extLst>
              <a:ext uri="{FF2B5EF4-FFF2-40B4-BE49-F238E27FC236}">
                <a16:creationId xmlns:a16="http://schemas.microsoft.com/office/drawing/2014/main" id="{13032460-1017-EFFB-BDDC-6754D176BFA0}"/>
              </a:ext>
            </a:extLst>
          </p:cNvPr>
          <p:cNvSpPr/>
          <p:nvPr/>
        </p:nvSpPr>
        <p:spPr>
          <a:xfrm>
            <a:off x="6496812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</a:rPr>
              <a:t>3</a:t>
            </a:r>
            <a:endParaRPr lang="en-US" sz="1500" dirty="0"/>
          </a:p>
        </p:txBody>
      </p:sp>
      <p:sp>
        <p:nvSpPr>
          <p:cNvPr id="22" name="Text 32">
            <a:extLst>
              <a:ext uri="{FF2B5EF4-FFF2-40B4-BE49-F238E27FC236}">
                <a16:creationId xmlns:a16="http://schemas.microsoft.com/office/drawing/2014/main" id="{ED60FB9D-A896-680C-AB4F-AF25E4FEC6AA}"/>
              </a:ext>
            </a:extLst>
          </p:cNvPr>
          <p:cNvSpPr/>
          <p:nvPr/>
        </p:nvSpPr>
        <p:spPr>
          <a:xfrm>
            <a:off x="7118604" y="4882896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정보 팝업 </a:t>
            </a:r>
            <a:r>
              <a:rPr lang="en-US" altLang="ko-KR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</a:t>
            </a:r>
            <a:endParaRPr lang="en-US" sz="145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14056072-DFC8-7FA7-A0D0-D880474E84F3}"/>
              </a:ext>
            </a:extLst>
          </p:cNvPr>
          <p:cNvSpPr/>
          <p:nvPr/>
        </p:nvSpPr>
        <p:spPr>
          <a:xfrm>
            <a:off x="7118604" y="5266944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Coin </a:t>
            </a: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팝업 </a:t>
            </a:r>
            <a:r>
              <a:rPr lang="en-US" altLang="ko-KR" sz="12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</a:t>
            </a:r>
            <a:r>
              <a:rPr lang="en-US" altLang="ko-KR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처럼 건물 카드를 </a:t>
            </a:r>
            <a:r>
              <a:rPr lang="ko-KR" altLang="en-US" sz="12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집을시</a:t>
            </a: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정보가 나오게 구현</a:t>
            </a:r>
            <a:endParaRPr lang="en-US" sz="1200" dirty="0"/>
          </a:p>
        </p:txBody>
      </p:sp>
      <p:sp>
        <p:nvSpPr>
          <p:cNvPr id="42" name="Shape 13">
            <a:extLst>
              <a:ext uri="{FF2B5EF4-FFF2-40B4-BE49-F238E27FC236}">
                <a16:creationId xmlns:a16="http://schemas.microsoft.com/office/drawing/2014/main" id="{4BB96F34-DE45-302F-15A6-62C502D5ACC6}"/>
              </a:ext>
            </a:extLst>
          </p:cNvPr>
          <p:cNvSpPr/>
          <p:nvPr/>
        </p:nvSpPr>
        <p:spPr>
          <a:xfrm>
            <a:off x="811530" y="4924044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A7F9A73B-B330-E3EF-8C68-760EBD323AC4}"/>
              </a:ext>
            </a:extLst>
          </p:cNvPr>
          <p:cNvSpPr/>
          <p:nvPr/>
        </p:nvSpPr>
        <p:spPr>
          <a:xfrm>
            <a:off x="811530" y="4924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</a:rPr>
              <a:t>3</a:t>
            </a:r>
            <a:endParaRPr lang="en-US" sz="1500" dirty="0"/>
          </a:p>
        </p:txBody>
      </p:sp>
      <p:sp>
        <p:nvSpPr>
          <p:cNvPr id="44" name="Text 15">
            <a:extLst>
              <a:ext uri="{FF2B5EF4-FFF2-40B4-BE49-F238E27FC236}">
                <a16:creationId xmlns:a16="http://schemas.microsoft.com/office/drawing/2014/main" id="{B43ACBCA-64D7-8CDA-1663-6C65DEB4D334}"/>
              </a:ext>
            </a:extLst>
          </p:cNvPr>
          <p:cNvSpPr/>
          <p:nvPr/>
        </p:nvSpPr>
        <p:spPr>
          <a:xfrm>
            <a:off x="1433322" y="4887468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 개선</a:t>
            </a:r>
            <a:endParaRPr lang="en-US" sz="1450" dirty="0"/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2821165C-2691-88AF-B341-899A92BD8F45}"/>
              </a:ext>
            </a:extLst>
          </p:cNvPr>
          <p:cNvSpPr/>
          <p:nvPr/>
        </p:nvSpPr>
        <p:spPr>
          <a:xfrm>
            <a:off x="1433322" y="5271516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플레이 중 레시피 아이템 드랍</a:t>
            </a:r>
            <a:endParaRPr lang="en-US" altLang="ko-KR" sz="1200" dirty="0">
              <a:solidFill>
                <a:srgbClr val="6B6A50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algn="l">
              <a:buNone/>
            </a:pP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</a:rPr>
              <a:t>레시피 </a:t>
            </a:r>
            <a:r>
              <a:rPr lang="en-US" altLang="ko-KR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</a:rPr>
              <a:t>UI </a:t>
            </a: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</a:rPr>
              <a:t>개선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1116128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849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Title_backgroun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8492A">
              <a:alpha val="6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"/>
          <p:cNvSpPr/>
          <p:nvPr/>
        </p:nvSpPr>
        <p:spPr>
          <a:xfrm>
            <a:off x="0" y="2331720"/>
            <a:ext cx="12188952" cy="2240280"/>
          </a:xfrm>
          <a:prstGeom prst="rect">
            <a:avLst/>
          </a:prstGeom>
          <a:solidFill>
            <a:srgbClr val="3849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2"/>
          <p:cNvSpPr/>
          <p:nvPr/>
        </p:nvSpPr>
        <p:spPr>
          <a:xfrm>
            <a:off x="0" y="2468880"/>
            <a:ext cx="12188952" cy="1097280"/>
          </a:xfrm>
          <a:prstGeom prst="rect">
            <a:avLst/>
          </a:prstGeom>
          <a:noFill/>
          <a:ln/>
          <a:effectLst>
            <a:outerShdw blurRad="101600" dist="38100" dir="5400000" algn="bl" rotWithShape="0">
              <a:srgbClr val="1C2415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0" y="36576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SpiritStack</a:t>
            </a:r>
            <a:r>
              <a:rPr lang="en-US" sz="18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카드 스태킹 생존 경영 게임   ·   Build 0.3.0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0" y="41605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  김지해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1439</Words>
  <Application>Microsoft Office PowerPoint</Application>
  <PresentationFormat>와이드스크린</PresentationFormat>
  <Paragraphs>360</Paragraphs>
  <Slides>15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Malgun Gothic</vt:lpstr>
      <vt:lpstr>Arial</vt:lpstr>
      <vt:lpstr>Consolas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SpiritStack 프로젝트 발표</dc:title>
  <dc:subject>PptxGenJS Presentation</dc:subject>
  <dc:creator>김지해</dc:creator>
  <cp:lastModifiedBy>배명자</cp:lastModifiedBy>
  <cp:revision>10</cp:revision>
  <dcterms:created xsi:type="dcterms:W3CDTF">2026-06-07T20:11:08Z</dcterms:created>
  <dcterms:modified xsi:type="dcterms:W3CDTF">2026-06-08T01:36:51Z</dcterms:modified>
</cp:coreProperties>
</file>