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8" r:id="rId4"/>
    <p:sldId id="259" r:id="rId5"/>
    <p:sldId id="275" r:id="rId6"/>
    <p:sldId id="260" r:id="rId7"/>
    <p:sldId id="273" r:id="rId8"/>
    <p:sldId id="262" r:id="rId9"/>
    <p:sldId id="263" r:id="rId10"/>
    <p:sldId id="264" r:id="rId11"/>
    <p:sldId id="265" r:id="rId12"/>
    <p:sldId id="274" r:id="rId13"/>
    <p:sldId id="276" r:id="rId14"/>
    <p:sldId id="267" r:id="rId15"/>
    <p:sldId id="272" r:id="rId16"/>
    <p:sldId id="270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1E1"/>
    <a:srgbClr val="AEC585"/>
    <a:srgbClr val="8FAE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89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5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57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1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10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13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78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microsoft.com/office/2007/relationships/hdphoto" Target="../media/hdphoto5.wdp"/><Relationship Id="rId2" Type="http://schemas.openxmlformats.org/officeDocument/2006/relationships/notesSlide" Target="../notesSlides/notesSlide5.xml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5.png"/><Relationship Id="rId14" Type="http://schemas.microsoft.com/office/2007/relationships/hdphoto" Target="../media/hdphoto6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gif"/><Relationship Id="rId5" Type="http://schemas.openxmlformats.org/officeDocument/2006/relationships/image" Target="../media/image35.gif"/><Relationship Id="rId4" Type="http://schemas.openxmlformats.org/officeDocument/2006/relationships/image" Target="../media/image34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8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4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73410"/>
            <a:ext cx="12188952" cy="2084590"/>
          </a:xfrm>
          <a:prstGeom prst="rect">
            <a:avLst/>
          </a:prstGeom>
          <a:solidFill>
            <a:srgbClr val="38492A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66928" y="4483380"/>
            <a:ext cx="10058400" cy="1003020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1C241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21792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3E8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마을을 키우는 생존 경영 시뮬레이션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1792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김지해</a:t>
            </a:r>
            <a:r>
              <a:rPr 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|      Build 1.0.0</a:t>
            </a:r>
            <a:endParaRPr lang="en-US" sz="1400" dirty="0"/>
          </a:p>
        </p:txBody>
      </p:sp>
      <p:pic>
        <p:nvPicPr>
          <p:cNvPr id="10" name="그림 9" descr="폰트, 그래픽, 타이포그래피, 로고이(가) 표시된 사진&#10;&#10;자동 생성된 설명">
            <a:extLst>
              <a:ext uri="{FF2B5EF4-FFF2-40B4-BE49-F238E27FC236}">
                <a16:creationId xmlns:a16="http://schemas.microsoft.com/office/drawing/2014/main" id="{1C0F649F-12F4-D429-A9F0-C1F883B10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311" y="842799"/>
            <a:ext cx="5890562" cy="29452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8096" y="1746504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8096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709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 소개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0208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Stacklands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38658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8096" y="2505456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468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 게임 소개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53312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게임 루프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145536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68096" y="3264408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8096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3538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0448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68096" y="4023360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68096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53312" y="3986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요약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297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</a:t>
            </a:r>
            <a:r>
              <a:rPr lang="en-US" sz="1000" dirty="0" smtClean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3주 </a:t>
            </a: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과정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68096" y="4782312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68096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53312" y="47457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① 날씨 시스템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53312" y="50566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542239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68096" y="5541264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68096" y="5541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53312" y="5504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② 주민 속성 시스템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53312" y="58155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Villager Attributes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162763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556248" y="1746504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556248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41464" y="1709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③ 세계수 드롭 시스템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41464" y="20208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Tree Drop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38658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556248" y="2505456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556248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41464" y="2468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④ 레시피별 이펙트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41464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 Effects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3145536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556248" y="3264408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55624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141464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141464" y="3538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90448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556248" y="4023360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55624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141464" y="3986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기술 2가지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141464" y="4297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55080" y="4666803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556248" y="4785675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556248" y="478567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41464" y="4749099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플레이 영상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141464" y="5059995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Video</a:t>
            </a:r>
            <a:endParaRPr lang="en-US" altLang="ko-KR" sz="1000" dirty="0"/>
          </a:p>
        </p:txBody>
      </p:sp>
      <p:sp>
        <p:nvSpPr>
          <p:cNvPr id="64" name="Text 6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7" name="Shape 57"/>
          <p:cNvSpPr/>
          <p:nvPr/>
        </p:nvSpPr>
        <p:spPr>
          <a:xfrm>
            <a:off x="6364224" y="544068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8"/>
          <p:cNvSpPr/>
          <p:nvPr/>
        </p:nvSpPr>
        <p:spPr>
          <a:xfrm>
            <a:off x="6565392" y="5559552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59"/>
          <p:cNvSpPr/>
          <p:nvPr/>
        </p:nvSpPr>
        <p:spPr>
          <a:xfrm>
            <a:off x="6565392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70" name="Text 60"/>
          <p:cNvSpPr/>
          <p:nvPr/>
        </p:nvSpPr>
        <p:spPr>
          <a:xfrm>
            <a:off x="7150608" y="55229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아쉬웠던 점 &amp; 향후 과제</a:t>
            </a:r>
            <a:endParaRPr lang="en-US" sz="1500" dirty="0"/>
          </a:p>
        </p:txBody>
      </p:sp>
      <p:sp>
        <p:nvSpPr>
          <p:cNvPr id="71" name="Text 61"/>
          <p:cNvSpPr/>
          <p:nvPr/>
        </p:nvSpPr>
        <p:spPr>
          <a:xfrm>
            <a:off x="7150608" y="58338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Retrospective · Future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3469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 — Stacklands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806440" cy="4754880"/>
          </a:xfrm>
          <a:prstGeom prst="roundRect">
            <a:avLst>
              <a:gd name="adj" fmla="val 2308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Stacklands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Sokpop Collective · 2022 · 카드 스태킹 마을 건설 / 생존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14400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압도적 긍정 평가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15768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15768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715768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카드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17136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13종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17136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1417320"/>
            <a:ext cx="4992624" cy="4754880"/>
          </a:xfrm>
          <a:prstGeom prst="roundRect">
            <a:avLst>
              <a:gd name="adj" fmla="val 2308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29400" y="162763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게임의 재미 · 레퍼런스로 삼은 이유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922008" y="21671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img/villa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3448" y="2240280"/>
            <a:ext cx="530352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72400" y="21214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몰입감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772400" y="24871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조작 없이 카드를 </a:t>
            </a:r>
            <a:r>
              <a:rPr lang="en-US" sz="1100" dirty="0" err="1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쌓는</a:t>
            </a: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잔잔하고</a:t>
            </a: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느긋한 플레이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22008" y="30815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79265" y="3154680"/>
            <a:ext cx="398718" cy="56692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72400" y="30358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수집·조합의 재미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772400" y="34015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카드와 숨은 조합을 발견하는 성취감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922008" y="39959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img/card_hous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13448" y="4069080"/>
            <a:ext cx="530352" cy="56692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0" y="39502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규칙, </a:t>
            </a:r>
            <a:r>
              <a:rPr lang="ko-KR" alt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심플한 디자인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7772400" y="43159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진입 + </a:t>
            </a:r>
            <a:r>
              <a:rPr lang="ko-KR" alt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심플한 디자인으로 진입장벽 낮음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22008" y="49103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img/card_campfir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13448" y="4983480"/>
            <a:ext cx="530352" cy="56692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772400" y="48646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모험과 발견 중심의 확장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772400" y="52303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곳으로 이동을 하거나 포탈을 통한 탐험 시스템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pic>
        <p:nvPicPr>
          <p:cNvPr id="41" name="그림 40" descr="텍스트, 스크린샷, 지도이(가) 표시된 사진&#10;&#10;자동 생성된 설명">
            <a:extLst>
              <a:ext uri="{FF2B5EF4-FFF2-40B4-BE49-F238E27FC236}">
                <a16:creationId xmlns:a16="http://schemas.microsoft.com/office/drawing/2014/main" id="{5AB61DDA-9D03-C95D-5095-DF4329418B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600" y="2381635"/>
            <a:ext cx="4413096" cy="24829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 — 게임 소개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1248" y="1627632"/>
            <a:ext cx="96012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4248" y="1481328"/>
            <a:ext cx="9418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카드를 중심으로 자원을 모으고, 제작하고, 마을을 지켜내는 생존 경영 게임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작업을 지시하고 · 하루가 지날 때마다 식량으로 주민을 먹이며 · 적의 습격과 변화하는 날씨를 버텨낸다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게임 루프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14400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mg/villag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8992" y="3886200"/>
            <a:ext cx="950976" cy="9509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스택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+ 자원/도구 카드를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작업 시작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05456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2734056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3081528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3" descr="img/berry-bush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46120" y="3904488"/>
            <a:ext cx="950976" cy="9509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34056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· 제작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2825496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레시피에 따라 자원 채집,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· 도구 생산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672584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4901184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248656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4901184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경과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992624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 = 하루, 매일 주민이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식량을 소비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839712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7068312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7415784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img/enemy_0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80376" y="3886200"/>
            <a:ext cx="950976" cy="9509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68312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웨이브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159752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포탈에서 적 출현,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주민과 자동 전투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006840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9235440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9582912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img/coi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47504" y="3886200"/>
            <a:ext cx="950976" cy="95097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35440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순환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326880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판매 → 코인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구매로 확장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66928" y="60533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반복되는 사이클 — 식량·전투·날씨를 관리하며 더 오래 생존하는 것이 목표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pic>
        <p:nvPicPr>
          <p:cNvPr id="44" name="Image 2" descr="img/card_campfir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11251" y="3886200"/>
            <a:ext cx="950976" cy="950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 — 게임 소개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 smtClean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종류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66928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정령 카드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4609623"/>
            <a:ext cx="1273797" cy="38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err="1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</a:t>
            </a:r>
            <a:endParaRPr lang="en-US" sz="1050" dirty="0" smtClean="0">
              <a:solidFill>
                <a:srgbClr val="6B6A5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배고픔 수치</a:t>
            </a:r>
            <a:r>
              <a:rPr lang="en-US" altLang="ko-KR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공격력</a:t>
            </a:r>
            <a:r>
              <a:rPr lang="en-US" altLang="ko-KR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체력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"/>
          <p:cNvSpPr/>
          <p:nvPr/>
        </p:nvSpPr>
        <p:spPr>
          <a:xfrm>
            <a:off x="2185521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9" name="Text 9"/>
          <p:cNvSpPr/>
          <p:nvPr/>
        </p:nvSpPr>
        <p:spPr>
          <a:xfrm>
            <a:off x="2185521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카드</a:t>
            </a:r>
            <a:endParaRPr lang="en-US" sz="1450" dirty="0"/>
          </a:p>
        </p:txBody>
      </p:sp>
      <p:sp>
        <p:nvSpPr>
          <p:cNvPr id="80" name="Text 10"/>
          <p:cNvSpPr/>
          <p:nvPr/>
        </p:nvSpPr>
        <p:spPr>
          <a:xfrm>
            <a:off x="2276961" y="4609623"/>
            <a:ext cx="1273797" cy="38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</a:t>
            </a:r>
            <a:r>
              <a:rPr lang="en-US" altLang="ko-KR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공격력</a:t>
            </a:r>
            <a:endParaRPr lang="en-US" sz="1050" dirty="0"/>
          </a:p>
        </p:txBody>
      </p:sp>
      <p:sp>
        <p:nvSpPr>
          <p:cNvPr id="81" name="Shape 7"/>
          <p:cNvSpPr/>
          <p:nvPr/>
        </p:nvSpPr>
        <p:spPr>
          <a:xfrm>
            <a:off x="3804112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2" name="Text 9"/>
          <p:cNvSpPr/>
          <p:nvPr/>
        </p:nvSpPr>
        <p:spPr>
          <a:xfrm>
            <a:off x="3804112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카드</a:t>
            </a:r>
            <a:endParaRPr lang="en-US" sz="1450" dirty="0"/>
          </a:p>
        </p:txBody>
      </p:sp>
      <p:sp>
        <p:nvSpPr>
          <p:cNvPr id="84" name="Shape 7"/>
          <p:cNvSpPr/>
          <p:nvPr/>
        </p:nvSpPr>
        <p:spPr>
          <a:xfrm>
            <a:off x="5422701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5" name="Text 9"/>
          <p:cNvSpPr/>
          <p:nvPr/>
        </p:nvSpPr>
        <p:spPr>
          <a:xfrm>
            <a:off x="5422701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err="1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채집물</a:t>
            </a: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</a:t>
            </a:r>
            <a:endParaRPr lang="en-US" sz="1450" dirty="0"/>
          </a:p>
        </p:txBody>
      </p:sp>
      <p:sp>
        <p:nvSpPr>
          <p:cNvPr id="86" name="Text 10"/>
          <p:cNvSpPr/>
          <p:nvPr/>
        </p:nvSpPr>
        <p:spPr>
          <a:xfrm>
            <a:off x="5514141" y="4609623"/>
            <a:ext cx="1273797" cy="38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050" dirty="0" err="1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채집횟수</a:t>
            </a:r>
            <a:endParaRPr lang="en-US" sz="1050" dirty="0"/>
          </a:p>
        </p:txBody>
      </p:sp>
      <p:sp>
        <p:nvSpPr>
          <p:cNvPr id="87" name="Shape 7"/>
          <p:cNvSpPr/>
          <p:nvPr/>
        </p:nvSpPr>
        <p:spPr>
          <a:xfrm>
            <a:off x="7041288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8" name="Text 9"/>
          <p:cNvSpPr/>
          <p:nvPr/>
        </p:nvSpPr>
        <p:spPr>
          <a:xfrm>
            <a:off x="7041288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카드</a:t>
            </a:r>
            <a:endParaRPr lang="en-US" sz="1450" dirty="0"/>
          </a:p>
        </p:txBody>
      </p:sp>
      <p:sp>
        <p:nvSpPr>
          <p:cNvPr id="90" name="Shape 7"/>
          <p:cNvSpPr/>
          <p:nvPr/>
        </p:nvSpPr>
        <p:spPr>
          <a:xfrm>
            <a:off x="8659873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1" name="Text 9"/>
          <p:cNvSpPr/>
          <p:nvPr/>
        </p:nvSpPr>
        <p:spPr>
          <a:xfrm>
            <a:off x="8659873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하트 카드</a:t>
            </a:r>
            <a:endParaRPr lang="en-US" sz="1450" dirty="0"/>
          </a:p>
        </p:txBody>
      </p:sp>
      <p:sp>
        <p:nvSpPr>
          <p:cNvPr id="92" name="Text 10"/>
          <p:cNvSpPr/>
          <p:nvPr/>
        </p:nvSpPr>
        <p:spPr>
          <a:xfrm>
            <a:off x="8751313" y="4609623"/>
            <a:ext cx="1273797" cy="38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회복</a:t>
            </a:r>
            <a:endParaRPr lang="en-US" sz="1050" dirty="0"/>
          </a:p>
        </p:txBody>
      </p:sp>
      <p:sp>
        <p:nvSpPr>
          <p:cNvPr id="93" name="Shape 7"/>
          <p:cNvSpPr/>
          <p:nvPr/>
        </p:nvSpPr>
        <p:spPr>
          <a:xfrm>
            <a:off x="10278456" y="2198344"/>
            <a:ext cx="1403776" cy="1722225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"/>
          <p:cNvSpPr/>
          <p:nvPr/>
        </p:nvSpPr>
        <p:spPr>
          <a:xfrm>
            <a:off x="10278456" y="4235246"/>
            <a:ext cx="1403778" cy="23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동전 카드</a:t>
            </a:r>
            <a:endParaRPr lang="en-US" sz="1450" dirty="0"/>
          </a:p>
        </p:txBody>
      </p:sp>
      <p:sp>
        <p:nvSpPr>
          <p:cNvPr id="95" name="Text 10"/>
          <p:cNvSpPr/>
          <p:nvPr/>
        </p:nvSpPr>
        <p:spPr>
          <a:xfrm>
            <a:off x="10369896" y="4609623"/>
            <a:ext cx="1273797" cy="38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050" dirty="0" smtClean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게임내 재화</a:t>
            </a:r>
            <a:endParaRPr lang="en-US" sz="1050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36" b="94964" l="4808" r="92308">
                        <a14:foregroundMark x1="32692" y1="36691" x2="91346" y2="87770"/>
                        <a14:foregroundMark x1="11538" y1="15827" x2="6731" y2="30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040" y="2444692"/>
            <a:ext cx="990738" cy="132416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08" b="98496" l="7407" r="944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339" y="2401449"/>
            <a:ext cx="1028844" cy="1267002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704" b="95556" l="1980" r="960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20" y="2434716"/>
            <a:ext cx="962159" cy="1286054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000" b="98000" l="4808" r="9615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4975" y="2583138"/>
            <a:ext cx="990738" cy="952633"/>
          </a:xfrm>
          <a:prstGeom prst="rect">
            <a:avLst/>
          </a:prstGeom>
        </p:spPr>
      </p:pic>
      <p:pic>
        <p:nvPicPr>
          <p:cNvPr id="98" name="그림 97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704" b="94815" l="7000" r="96000">
                        <a14:foregroundMark x1="72000" y1="31852" x2="72000" y2="31852"/>
                        <a14:foregroundMark x1="78000" y1="28148" x2="79000" y2="65185"/>
                        <a14:foregroundMark x1="27000" y1="35556" x2="18000" y2="85926"/>
                        <a14:foregroundMark x1="45000" y1="45185" x2="28000" y2="9630"/>
                        <a14:foregroundMark x1="74000" y1="18519" x2="73000" y2="4444"/>
                        <a14:foregroundMark x1="14000" y1="82963" x2="21000" y2="94074"/>
                        <a14:foregroundMark x1="23000" y1="50370" x2="94000" y2="90370"/>
                        <a14:foregroundMark x1="29000" y1="82222" x2="22000" y2="80741"/>
                        <a14:foregroundMark x1="64000" y1="87407" x2="42000" y2="77037"/>
                        <a14:foregroundMark x1="38000" y1="85926" x2="62000" y2="70370"/>
                        <a14:foregroundMark x1="35000" y1="67407" x2="70000" y2="85185"/>
                        <a14:foregroundMark x1="21000" y1="35556" x2="7000" y2="28148"/>
                        <a14:foregroundMark x1="62000" y1="22963" x2="89000" y2="5185"/>
                        <a14:foregroundMark x1="90000" y1="33333" x2="96000" y2="33333"/>
                        <a14:foregroundMark x1="82000" y1="71111" x2="96000" y2="68889"/>
                        <a14:foregroundMark x1="39000" y1="82222" x2="36000" y2="94074"/>
                        <a14:foregroundMark x1="72000" y1="73333" x2="74000" y2="93333"/>
                        <a14:foregroundMark x1="59000" y1="91852" x2="70000" y2="94815"/>
                        <a14:foregroundMark x1="42000" y1="12593" x2="15000" y2="3704"/>
                        <a14:foregroundMark x1="62000" y1="17778" x2="96000" y2="11852"/>
                        <a14:foregroundMark x1="88000" y1="41481" x2="96000" y2="44444"/>
                        <a14:backgroundMark x1="2000" y1="12593" x2="6000" y2="14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99" y="2439555"/>
            <a:ext cx="952633" cy="1286054"/>
          </a:xfrm>
          <a:prstGeom prst="rect">
            <a:avLst/>
          </a:prstGeom>
        </p:spPr>
      </p:pic>
      <p:pic>
        <p:nvPicPr>
          <p:cNvPr id="99" name="그림 98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2878" b="96403" l="8257" r="935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991" y="2401449"/>
            <a:ext cx="1038370" cy="1324160"/>
          </a:xfrm>
          <a:prstGeom prst="rect">
            <a:avLst/>
          </a:prstGeom>
        </p:spPr>
      </p:pic>
      <p:pic>
        <p:nvPicPr>
          <p:cNvPr id="100" name="그림 99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4730" b="93919" l="8696" r="92174">
                        <a14:foregroundMark x1="36522" y1="71622" x2="21739" y2="837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825" y="2354507"/>
            <a:ext cx="1095528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9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809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mg/villa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9536" y="1938528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7393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스택 &amp; 자동 스택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77393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드래그·겹침, 인접 동종 카드 자동 정렬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644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4761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img/card_campfir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9056" y="1938528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345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· 제작 시스템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345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조합 → 음식·도구·건물 생산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596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32713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img/card_tre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8576" y="1938528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3297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&amp; 랜덤 보상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33297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채집, 결과 확률형 드랍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6692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6809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img/berry-bush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9536" y="3557016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7393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사이클 &amp; 식량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77393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2분=</a:t>
            </a:r>
            <a:r>
              <a:rPr lang="en-US" sz="11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</a:t>
            </a: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1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식량</a:t>
            </a: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</a:t>
            </a: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게임오버</a:t>
            </a: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4644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454761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9056" y="3557016"/>
            <a:ext cx="685800" cy="6858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5345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</a:t>
            </a: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5345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속성별 </a:t>
            </a:r>
            <a:r>
              <a:rPr lang="ko-KR" altLang="en-US" sz="11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스탯</a:t>
            </a:r>
            <a:r>
              <a:rPr lang="ko-KR" alt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차별화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2596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832713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img/coin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18576" y="3557016"/>
            <a:ext cx="685800" cy="6858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3297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&amp; 코인 경제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933297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구매/판매 거점, 코인 주머니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6692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76809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img/enemy_0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9536" y="5175504"/>
            <a:ext cx="685800" cy="6858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77393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웨이브 &amp; 전투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177393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 출현, 자동 전투·드랍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34644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3"/>
          <p:cNvSpPr/>
          <p:nvPr/>
        </p:nvSpPr>
        <p:spPr>
          <a:xfrm>
            <a:off x="454761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7" descr="img/icon_weather_sunny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39056" y="5175504"/>
            <a:ext cx="685800" cy="6858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55345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</a:t>
            </a:r>
            <a:endParaRPr lang="en-US" sz="1450" dirty="0"/>
          </a:p>
        </p:txBody>
      </p:sp>
      <p:sp>
        <p:nvSpPr>
          <p:cNvPr id="45" name="Text 35"/>
          <p:cNvSpPr/>
          <p:nvPr/>
        </p:nvSpPr>
        <p:spPr>
          <a:xfrm>
            <a:off x="555345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룰렛 기반 4종 날씨 효과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12596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7"/>
          <p:cNvSpPr/>
          <p:nvPr/>
        </p:nvSpPr>
        <p:spPr>
          <a:xfrm>
            <a:off x="832713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img/card_stor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18576" y="5175504"/>
            <a:ext cx="685800" cy="6858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33297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 / 로드</a:t>
            </a:r>
            <a:endParaRPr lang="en-US" sz="1450" dirty="0"/>
          </a:p>
        </p:txBody>
      </p:sp>
      <p:sp>
        <p:nvSpPr>
          <p:cNvPr id="50" name="Text 39"/>
          <p:cNvSpPr/>
          <p:nvPr/>
        </p:nvSpPr>
        <p:spPr>
          <a:xfrm>
            <a:off x="933297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게임 상태 저장·복원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요약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8448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05. 18  ~  06. 08   ·   약 3주 개발 (3단계)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3474720" cy="1078992"/>
          </a:xfrm>
          <a:prstGeom prst="roundRect">
            <a:avLst>
              <a:gd name="adj" fmla="val 10169"/>
            </a:avLst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3474720" cy="438912"/>
          </a:xfrm>
          <a:prstGeom prst="rect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86384" y="17465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20208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05.18 ~ 05.24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6384" y="229514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시스템 구축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29992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데이터 구조 · PlayerInput 입력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줌 ·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</a:t>
            </a:r>
            <a:r>
              <a:rPr 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제어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조합 · 채집 · 자동 스택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카드팩 · 하루 사이클 · 식량/게임오버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61688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61688" y="1600200"/>
            <a:ext cx="3474720" cy="1078992"/>
          </a:xfrm>
          <a:prstGeom prst="roundRect">
            <a:avLst>
              <a:gd name="adj" fmla="val 10169"/>
            </a:avLst>
          </a:prstGeom>
          <a:solidFill>
            <a:srgbClr val="E0A2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61688" y="2240280"/>
            <a:ext cx="3474720" cy="438912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81144" y="17465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81144" y="20208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05.25 ~ 05.31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81144" y="229514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확장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2926080"/>
            <a:ext cx="29992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</a:t>
            </a: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시스템 구현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확률 시스템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시스템 · </a:t>
            </a:r>
            <a:r>
              <a:rPr lang="ko-KR" alt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</a:t>
            </a: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endParaRPr lang="en-US" sz="1350" dirty="0">
              <a:solidFill>
                <a:srgbClr val="2E33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주민 속성 시스템 추가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 (4종)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56448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156448" y="1600200"/>
            <a:ext cx="3474720" cy="1078992"/>
          </a:xfrm>
          <a:prstGeom prst="roundRect">
            <a:avLst>
              <a:gd name="adj" fmla="val 10169"/>
            </a:avLst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156448" y="2240280"/>
            <a:ext cx="3474720" cy="438912"/>
          </a:xfrm>
          <a:prstGeom prst="rect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375904" y="17465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75904" y="20208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06.01 ~ 06.08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75904" y="229514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· 완성도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2926080"/>
            <a:ext cx="29992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씬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제약 · 최대 개수 · 창고 확장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 / </a:t>
            </a:r>
            <a:r>
              <a:rPr 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</a:t>
            </a: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350" dirty="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레시피별 </a:t>
            </a:r>
            <a:r>
              <a:rPr 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이펙트</a:t>
            </a:r>
            <a:endParaRPr lang="en-US" sz="1350" dirty="0">
              <a:solidFill>
                <a:srgbClr val="2E33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</a:t>
            </a: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350" dirty="0">
              <a:solidFill>
                <a:srgbClr val="2E33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UI </a:t>
            </a:r>
            <a:r>
              <a:rPr lang="ko-KR" altLang="en-US" sz="135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작업 및 디자인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641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①  · </a:t>
            </a:r>
            <a:r>
              <a:rPr lang="en-US" altLang="ko-KR" sz="1150" b="1" kern="0" spc="200" dirty="0" err="1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레퍼런스와</a:t>
            </a:r>
            <a:r>
              <a:rPr lang="en-US" altLang="ko-KR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</a:t>
            </a:r>
            <a:r>
              <a:rPr lang="en-US" altLang="ko-KR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88" y="1828800"/>
            <a:ext cx="24688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526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7일마다 룰렛 추첨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날씨를 무작위로 결정하고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동안 효과가 지속된다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150876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828032" y="1892808"/>
            <a:ext cx="1371600" cy="1371600"/>
          </a:xfrm>
          <a:prstGeom prst="ellipse">
            <a:avLst/>
          </a:prstGeom>
          <a:solidFill>
            <a:srgbClr val="FBE7B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mg/icon_weather_sunn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0" y="2093976"/>
            <a:ext cx="969264" cy="9692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189280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78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맑음 (Sunny)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240487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결과 30% 확률로 2배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34172" y="150876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490204" y="1892808"/>
            <a:ext cx="1371600" cy="1371600"/>
          </a:xfrm>
          <a:prstGeom prst="ellipse">
            <a:avLst/>
          </a:prstGeom>
          <a:solidFill>
            <a:srgbClr val="CFE3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mg/icon_weather_rai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91372" y="2093976"/>
            <a:ext cx="969264" cy="9692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17252" y="189280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(Rain)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0017252" y="240487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속도 1.5배 가속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0" y="397764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828032" y="4361688"/>
            <a:ext cx="1371600" cy="1371600"/>
          </a:xfrm>
          <a:prstGeom prst="ellipse">
            <a:avLst/>
          </a:prstGeom>
          <a:solidFill>
            <a:srgbClr val="E2EC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mg/icon_weather_snow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29200" y="4562856"/>
            <a:ext cx="969264" cy="9692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436168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E7C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(Snow)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355080" y="487375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카드 2장 빙결 → 사용 불가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34172" y="397764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490204" y="4361688"/>
            <a:ext cx="1371600" cy="1371600"/>
          </a:xfrm>
          <a:prstGeom prst="ellipse">
            <a:avLst/>
          </a:prstGeom>
          <a:solidFill>
            <a:srgbClr val="D8D6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img/icon_weather_storm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91372" y="4562856"/>
            <a:ext cx="969264" cy="9692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17252" y="436168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B5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폭풍 (Storm)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0017252" y="487375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</a:t>
            </a:r>
            <a:r>
              <a:rPr lang="en-US" altLang="ko-KR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r>
              <a:rPr lang="en-US" sz="130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흔들림, 매일 1장씩 날아감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②  · </a:t>
            </a:r>
            <a:r>
              <a:rPr lang="en-US" altLang="ko-KR" sz="1150" b="1" kern="0" spc="200" dirty="0" err="1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레퍼런스와</a:t>
            </a:r>
            <a:r>
              <a:rPr lang="en-US" altLang="ko-KR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</a:t>
            </a:r>
            <a:r>
              <a:rPr lang="en-US" altLang="ko-KR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속성 시스템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속성 주민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627632" cy="2495894"/>
          </a:xfrm>
          <a:prstGeom prst="roundRect">
            <a:avLst>
              <a:gd name="adj" fmla="val 6742"/>
            </a:avLst>
          </a:prstGeom>
          <a:solidFill>
            <a:srgbClr val="ECE6D6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mg/villa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7824" y="2029968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(Normal)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377440" y="1828800"/>
            <a:ext cx="1627632" cy="2495894"/>
          </a:xfrm>
          <a:prstGeom prst="roundRect">
            <a:avLst>
              <a:gd name="adj" fmla="val 6742"/>
            </a:avLst>
          </a:prstGeom>
          <a:solidFill>
            <a:srgbClr val="FCE3D2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mg/Villager_Fir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88336" y="2029968"/>
            <a:ext cx="10058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 (Fire)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187952" y="1828800"/>
            <a:ext cx="1627632" cy="2495894"/>
          </a:xfrm>
          <a:prstGeom prst="roundRect">
            <a:avLst>
              <a:gd name="adj" fmla="val 6742"/>
            </a:avLst>
          </a:prstGeom>
          <a:solidFill>
            <a:srgbClr val="D6E8F2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mg/Villager_Wat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98848" y="2029968"/>
            <a:ext cx="1005840" cy="10058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87952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(Water)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98464" y="1828800"/>
            <a:ext cx="1627632" cy="2495894"/>
          </a:xfrm>
          <a:prstGeom prst="roundRect">
            <a:avLst>
              <a:gd name="adj" fmla="val 6742"/>
            </a:avLst>
          </a:prstGeom>
          <a:solidFill>
            <a:srgbClr val="E4E0D6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img/Villager_Ston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2029968"/>
            <a:ext cx="1005840" cy="1005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98464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(Stone)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66928" y="4709160"/>
            <a:ext cx="7040880" cy="1463040"/>
          </a:xfrm>
          <a:prstGeom prst="roundRect">
            <a:avLst>
              <a:gd name="adj" fmla="val 631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img/baby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1248" y="4909730"/>
            <a:ext cx="1067939" cy="9625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167128" y="4834288"/>
            <a:ext cx="5303520" cy="1155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→ 성장 시스템</a:t>
            </a:r>
            <a:endParaRPr lang="en-US" sz="15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카드는 </a:t>
            </a:r>
            <a:r>
              <a:rPr lang="en-US" sz="125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</a:t>
            </a: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참여하지 못하며, 3일이 </a:t>
            </a:r>
            <a:r>
              <a:rPr lang="en-US" sz="125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지나면</a:t>
            </a: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</a:t>
            </a: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주민(adultData)으로 성장한다.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7726680" y="1417320"/>
            <a:ext cx="3886200" cy="4754880"/>
          </a:xfrm>
          <a:prstGeom prst="roundRect">
            <a:avLst>
              <a:gd name="adj" fmla="val 2824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7726680" y="1645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주민이 가지는 스탯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7955280" y="2075270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/>
          <p:nvPr/>
        </p:nvSpPr>
        <p:spPr>
          <a:xfrm>
            <a:off x="8138160" y="214842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(Health)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138160" y="244103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적의 공격으로 감소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55280" y="2879942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8138160" y="295309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배고픔 (Hunger)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138160" y="32457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증가, 0이면 사망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955280" y="3684614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8138160" y="375776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공격력 (Attack)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138160" y="405037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시 적에게 피해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955280" y="4489286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/>
          <p:cNvSpPr/>
          <p:nvPr/>
        </p:nvSpPr>
        <p:spPr>
          <a:xfrm>
            <a:off x="8138160" y="456243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속도 (Work Speed)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138160" y="485504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소요시간 단축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955280" y="5293958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/>
          <p:nvPr/>
        </p:nvSpPr>
        <p:spPr>
          <a:xfrm>
            <a:off x="8138160" y="536711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간격 (Interval)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8138160" y="565971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전투 공격 주기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6"/>
          <p:cNvSpPr/>
          <p:nvPr/>
        </p:nvSpPr>
        <p:spPr>
          <a:xfrm>
            <a:off x="717647" y="3616034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배고픔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1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체력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5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  <a:endParaRPr lang="en-US" sz="900" dirty="0"/>
          </a:p>
        </p:txBody>
      </p:sp>
      <p:sp>
        <p:nvSpPr>
          <p:cNvPr id="44" name="Text 6"/>
          <p:cNvSpPr/>
          <p:nvPr/>
        </p:nvSpPr>
        <p:spPr>
          <a:xfrm>
            <a:off x="1253031" y="3616034"/>
            <a:ext cx="963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작업 속도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:1</a:t>
            </a:r>
          </a:p>
          <a:p>
            <a:pPr marL="0" indent="0">
              <a:buNone/>
            </a:pPr>
            <a:r>
              <a:rPr lang="ko-KR" altLang="en-US" sz="900" dirty="0" err="1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공격간격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  <a:endParaRPr lang="en-US" sz="900" dirty="0"/>
          </a:p>
        </p:txBody>
      </p:sp>
      <p:sp>
        <p:nvSpPr>
          <p:cNvPr id="45" name="Text 6"/>
          <p:cNvSpPr/>
          <p:nvPr/>
        </p:nvSpPr>
        <p:spPr>
          <a:xfrm>
            <a:off x="2524739" y="3616034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배고픔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체력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5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4</a:t>
            </a:r>
            <a:endParaRPr lang="en-US" sz="900" dirty="0"/>
          </a:p>
        </p:txBody>
      </p:sp>
      <p:sp>
        <p:nvSpPr>
          <p:cNvPr id="46" name="Text 6"/>
          <p:cNvSpPr/>
          <p:nvPr/>
        </p:nvSpPr>
        <p:spPr>
          <a:xfrm>
            <a:off x="3060123" y="3616034"/>
            <a:ext cx="963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작업 속도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0.5</a:t>
            </a:r>
          </a:p>
          <a:p>
            <a:pPr marL="0" indent="0">
              <a:buNone/>
            </a:pPr>
            <a:r>
              <a:rPr lang="ko-KR" altLang="en-US" sz="900" dirty="0" err="1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공격간격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1.8</a:t>
            </a:r>
            <a:endParaRPr lang="en-US" sz="900" dirty="0"/>
          </a:p>
        </p:txBody>
      </p:sp>
      <p:sp>
        <p:nvSpPr>
          <p:cNvPr id="52" name="Text 6"/>
          <p:cNvSpPr/>
          <p:nvPr/>
        </p:nvSpPr>
        <p:spPr>
          <a:xfrm>
            <a:off x="4333990" y="3616034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배고픔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체력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7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1</a:t>
            </a:r>
            <a:endParaRPr lang="en-US" sz="900" dirty="0"/>
          </a:p>
        </p:txBody>
      </p:sp>
      <p:sp>
        <p:nvSpPr>
          <p:cNvPr id="53" name="Text 6"/>
          <p:cNvSpPr/>
          <p:nvPr/>
        </p:nvSpPr>
        <p:spPr>
          <a:xfrm>
            <a:off x="4869374" y="3616034"/>
            <a:ext cx="963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작업 속도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:1.5</a:t>
            </a:r>
          </a:p>
          <a:p>
            <a:pPr marL="0" indent="0">
              <a:buNone/>
            </a:pPr>
            <a:r>
              <a:rPr lang="ko-KR" altLang="en-US" sz="900" dirty="0" err="1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공격간격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  <a:endParaRPr lang="en-US" sz="900" dirty="0"/>
          </a:p>
        </p:txBody>
      </p:sp>
      <p:sp>
        <p:nvSpPr>
          <p:cNvPr id="55" name="Text 6"/>
          <p:cNvSpPr/>
          <p:nvPr/>
        </p:nvSpPr>
        <p:spPr>
          <a:xfrm>
            <a:off x="6149069" y="3616034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배고픔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체력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10</a:t>
            </a:r>
          </a:p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공격력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  <a:endParaRPr lang="en-US" sz="900" dirty="0"/>
          </a:p>
        </p:txBody>
      </p:sp>
      <p:sp>
        <p:nvSpPr>
          <p:cNvPr id="56" name="Text 6"/>
          <p:cNvSpPr/>
          <p:nvPr/>
        </p:nvSpPr>
        <p:spPr>
          <a:xfrm>
            <a:off x="6684453" y="3616034"/>
            <a:ext cx="963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작업 속도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:1</a:t>
            </a:r>
          </a:p>
          <a:p>
            <a:pPr marL="0" indent="0">
              <a:buNone/>
            </a:pPr>
            <a:r>
              <a:rPr lang="ko-KR" altLang="en-US" sz="900" dirty="0" err="1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공격간격</a:t>
            </a:r>
            <a:r>
              <a:rPr lang="en-US" altLang="ko-KR" sz="900" dirty="0" smtClean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: 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③  · </a:t>
            </a:r>
            <a:r>
              <a:rPr lang="en-US" altLang="ko-KR" sz="1150" b="1" kern="0" spc="200" dirty="0" err="1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레퍼런스와</a:t>
            </a:r>
            <a:r>
              <a:rPr lang="en-US" altLang="ko-KR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</a:t>
            </a:r>
            <a:r>
              <a:rPr lang="en-US" altLang="ko-KR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랜덤 드롭 시스템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200400" cy="4617720"/>
          </a:xfrm>
          <a:prstGeom prst="roundRect">
            <a:avLst>
              <a:gd name="adj" fmla="val 342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mg/card_worldTre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1288" y="187452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카드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449884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필드에 랜덤으로 생성되어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 채집할 수 있는 나무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69080" y="1481328"/>
            <a:ext cx="7552944" cy="2788920"/>
          </a:xfrm>
          <a:prstGeom prst="roundRect">
            <a:avLst>
              <a:gd name="adj" fmla="val 393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343400" y="1609344"/>
            <a:ext cx="7004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채집  →  매번 랜덤 드롭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26280" y="1993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드롭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2628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img/woo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2395728"/>
            <a:ext cx="868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통나무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img/card_fairyHer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2395728"/>
            <a:ext cx="868680" cy="868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요정허브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498080" y="26060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7532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25400">
            <a:solidFill>
              <a:srgbClr val="E0A23A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mg/card_fairySoup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49640" y="2395728"/>
            <a:ext cx="868680" cy="868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 스프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829800" y="254203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요정허브로 만드는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카드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069080" y="4453128"/>
            <a:ext cx="7552944" cy="1645920"/>
          </a:xfrm>
          <a:prstGeom prst="roundRect">
            <a:avLst>
              <a:gd name="adj" fmla="val 6667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4361688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추가했나?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361688" y="5010912"/>
            <a:ext cx="6967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카드의 종류가 부족했던 상황에서, 플레이어에게 새로운 음식 공급원이자 하나의 즐길 거리(콘텐츠)를 제공하고자 — 세계수 → 요정허브 → 요정 스프로 </a:t>
            </a:r>
            <a:r>
              <a:rPr lang="en-US" sz="1300" dirty="0" err="1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</a:t>
            </a:r>
            <a:r>
              <a:rPr lang="en-US" sz="13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레시피를 </a:t>
            </a:r>
            <a:r>
              <a:rPr lang="en-US" sz="1300" dirty="0" err="1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추가했다</a:t>
            </a:r>
            <a:r>
              <a:rPr lang="en-US" sz="13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④  ·  </a:t>
            </a:r>
            <a:r>
              <a:rPr lang="en-US" sz="1150" b="1" kern="0" spc="200" dirty="0" err="1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레퍼런스와</a:t>
            </a: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</a:t>
            </a: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레시피별</a:t>
            </a: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이펙트</a:t>
            </a: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4114800" cy="4617720"/>
          </a:xfrm>
          <a:prstGeom prst="roundRect">
            <a:avLst>
              <a:gd name="adj" fmla="val 2667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</a:rPr>
              <a:t>레시피마다 다른 이펙트 연출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33172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스택해 작업할 때, 진행 중인 작업 종류에 맞는 전용 파티클 이펙트가 카드 위에서 재생된다.</a:t>
            </a:r>
            <a:endParaRPr lang="en-US" sz="14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방식</a:t>
            </a:r>
            <a:endParaRPr lang="en-US" sz="14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12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레시피·채집 데이터마다 effectPrefab 을 지정 → ProgressTask 가 작업 중 해당 이펙트를 생성</a:t>
            </a:r>
            <a:endParaRPr lang="en-US" sz="14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r>
              <a:rPr lang="en-US" sz="1300" b="1" dirty="0" err="1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차별점인가</a:t>
            </a:r>
            <a:endParaRPr lang="en-US" sz="1300" b="1" dirty="0">
              <a:solidFill>
                <a:srgbClr val="8FAE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게임을 </a:t>
            </a:r>
            <a:r>
              <a:rPr lang="ko-KR" altLang="en-US" sz="1400" dirty="0" err="1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했을적에</a:t>
            </a:r>
            <a:r>
              <a:rPr lang="ko-KR" alt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ProgressBar</a:t>
            </a:r>
            <a:r>
              <a:rPr lang="ko-KR" alt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멍하니 지켜보던 시간이 많았고</a:t>
            </a:r>
            <a:r>
              <a:rPr lang="en-US" altLang="ko-KR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좀더 시각적인 재미를 주면 좋겠다고 생각했습니다</a:t>
            </a:r>
            <a:r>
              <a:rPr lang="en-US" altLang="ko-KR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altLang="ko-KR" sz="1400" dirty="0">
              <a:solidFill>
                <a:srgbClr val="E7DEC4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250" b="1" dirty="0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altLang="ko-KR" sz="1250" b="1" dirty="0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250" b="1" dirty="0" err="1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</a:t>
            </a:r>
            <a:r>
              <a:rPr lang="en-US" sz="1250" b="1" dirty="0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작업인지 한눈에 보이고, </a:t>
            </a:r>
            <a:r>
              <a:rPr lang="en-US" sz="1250" b="1" dirty="0" err="1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타격감과</a:t>
            </a:r>
            <a:r>
              <a:rPr lang="en-US" sz="1250" b="1" dirty="0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시각적 재미를 </a:t>
            </a:r>
            <a:r>
              <a:rPr lang="ko-KR" altLang="en-US" sz="1250" b="1" dirty="0" err="1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극대화시킨다</a:t>
            </a:r>
            <a:r>
              <a:rPr lang="en-US" altLang="ko-KR" sz="1250" b="1" dirty="0">
                <a:solidFill>
                  <a:srgbClr val="AEC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b="1" dirty="0">
              <a:solidFill>
                <a:srgbClr val="AEC585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2040" y="148132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8928" y="1711946"/>
            <a:ext cx="1251496" cy="17333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186537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 채집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75120" y="237744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도끼로 패듯 나무 조각이 사방으로 흩뿌려진다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394192" y="148132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3342" y="1716461"/>
            <a:ext cx="1302940" cy="18045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177272" y="186537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B6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캐기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77272" y="237744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단단한 돌 조각이 튀어 오른다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92040" y="390448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78457" y="4101566"/>
            <a:ext cx="1274254" cy="17648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42885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열매 채집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675120" y="4800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덤불에서 잎과 열매가 흩날린다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94192" y="390448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36211" y="4123763"/>
            <a:ext cx="1299044" cy="17991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77272" y="42885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 · 제작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0177272" y="4800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레시피와 연관된</a:t>
            </a:r>
            <a:r>
              <a:rPr lang="en-US" sz="1300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</a:t>
            </a: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이펙트가 나온다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12848" y="1554480"/>
            <a:ext cx="457200" cy="1298448"/>
          </a:xfrm>
          <a:prstGeom prst="rect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계층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Singleton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5292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5292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881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5881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DayManager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470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6470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7059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07059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5292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85292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EnemyManager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881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25881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SoundManager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470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6470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7059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7059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InputManager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035808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66928" y="3035808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0A2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212848" y="3035808"/>
            <a:ext cx="457200" cy="1298448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520" y="3328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계층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3152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ScriptableObject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5292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85292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2744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VillagerCardData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0196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60196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EnemyCardData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5292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85292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CardRecipe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2744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72744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CardPackData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0196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60196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WeatherType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4517136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66928" y="4517136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2212848" y="4517136"/>
            <a:ext cx="457200" cy="1298448"/>
          </a:xfrm>
          <a:prstGeom prst="rect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31520" y="48097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 · UI · 런타임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731520" y="5230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MonoBehaviour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5292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285292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/ VillagerCard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2744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2744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CardStack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0196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60196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ProgressTask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52928" y="5212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852928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ResourceCardUI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27448" y="5212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727448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UI_Ingame / RecipeBook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0263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2700" dirty="0"/>
          </a:p>
        </p:txBody>
      </p:sp>
      <p:sp>
        <p:nvSpPr>
          <p:cNvPr id="81" name="Text 79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0" y="342469"/>
            <a:ext cx="3639058" cy="6173061"/>
          </a:xfrm>
          <a:prstGeom prst="rect">
            <a:avLst/>
          </a:prstGeom>
        </p:spPr>
      </p:pic>
      <p:sp>
        <p:nvSpPr>
          <p:cNvPr id="85" name="Shape 57"/>
          <p:cNvSpPr/>
          <p:nvPr/>
        </p:nvSpPr>
        <p:spPr>
          <a:xfrm>
            <a:off x="566928" y="1554480"/>
            <a:ext cx="5961634" cy="4078224"/>
          </a:xfrm>
          <a:prstGeom prst="roundRect">
            <a:avLst>
              <a:gd name="adj" fmla="val 3822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6" name="Text 58"/>
          <p:cNvSpPr/>
          <p:nvPr/>
        </p:nvSpPr>
        <p:spPr>
          <a:xfrm>
            <a:off x="2199132" y="170078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데이터 구조</a:t>
            </a:r>
            <a:endParaRPr lang="en-US" sz="1350" dirty="0"/>
          </a:p>
        </p:txBody>
      </p:sp>
      <p:sp>
        <p:nvSpPr>
          <p:cNvPr id="87" name="Shape 59"/>
          <p:cNvSpPr/>
          <p:nvPr/>
        </p:nvSpPr>
        <p:spPr>
          <a:xfrm>
            <a:off x="2788920" y="212140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E0A23A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8" name="Text 60"/>
          <p:cNvSpPr/>
          <p:nvPr/>
        </p:nvSpPr>
        <p:spPr>
          <a:xfrm>
            <a:off x="2788920" y="2121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CardData</a:t>
            </a:r>
            <a:endParaRPr lang="en-US" sz="1300" dirty="0"/>
          </a:p>
        </p:txBody>
      </p:sp>
      <p:sp>
        <p:nvSpPr>
          <p:cNvPr id="89" name="Text 61"/>
          <p:cNvSpPr/>
          <p:nvPr/>
        </p:nvSpPr>
        <p:spPr>
          <a:xfrm>
            <a:off x="2199132" y="256032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D4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· ScriptableObject</a:t>
            </a:r>
            <a:endParaRPr lang="en-US" sz="850" dirty="0"/>
          </a:p>
        </p:txBody>
      </p:sp>
      <p:sp>
        <p:nvSpPr>
          <p:cNvPr id="90" name="Text 62"/>
          <p:cNvSpPr/>
          <p:nvPr/>
        </p:nvSpPr>
        <p:spPr>
          <a:xfrm>
            <a:off x="2199132" y="272491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상속</a:t>
            </a:r>
            <a:endParaRPr lang="en-US" sz="1050" dirty="0"/>
          </a:p>
        </p:txBody>
      </p:sp>
      <p:sp>
        <p:nvSpPr>
          <p:cNvPr id="91" name="Shape 63"/>
          <p:cNvSpPr/>
          <p:nvPr/>
        </p:nvSpPr>
        <p:spPr>
          <a:xfrm>
            <a:off x="2363724" y="2999232"/>
            <a:ext cx="1243584" cy="402336"/>
          </a:xfrm>
          <a:prstGeom prst="roundRect">
            <a:avLst>
              <a:gd name="adj" fmla="val 18182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64"/>
          <p:cNvSpPr/>
          <p:nvPr/>
        </p:nvSpPr>
        <p:spPr>
          <a:xfrm>
            <a:off x="2363724" y="2999232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050" dirty="0"/>
          </a:p>
        </p:txBody>
      </p:sp>
      <p:sp>
        <p:nvSpPr>
          <p:cNvPr id="93" name="Shape 65"/>
          <p:cNvSpPr/>
          <p:nvPr/>
        </p:nvSpPr>
        <p:spPr>
          <a:xfrm>
            <a:off x="5060416" y="3501416"/>
            <a:ext cx="1243584" cy="402336"/>
          </a:xfrm>
          <a:prstGeom prst="roundRect">
            <a:avLst>
              <a:gd name="adj" fmla="val 18182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66"/>
          <p:cNvSpPr/>
          <p:nvPr/>
        </p:nvSpPr>
        <p:spPr>
          <a:xfrm>
            <a:off x="5060416" y="3501416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50" dirty="0"/>
          </a:p>
        </p:txBody>
      </p:sp>
      <p:sp>
        <p:nvSpPr>
          <p:cNvPr id="95" name="Shape 67"/>
          <p:cNvSpPr/>
          <p:nvPr/>
        </p:nvSpPr>
        <p:spPr>
          <a:xfrm>
            <a:off x="2363724" y="3493008"/>
            <a:ext cx="1243584" cy="402336"/>
          </a:xfrm>
          <a:prstGeom prst="roundRect">
            <a:avLst>
              <a:gd name="adj" fmla="val 18182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6" name="Text 68"/>
          <p:cNvSpPr/>
          <p:nvPr/>
        </p:nvSpPr>
        <p:spPr>
          <a:xfrm>
            <a:off x="2363724" y="3493008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</a:t>
            </a:r>
            <a:endParaRPr lang="en-US" sz="1050" dirty="0"/>
          </a:p>
        </p:txBody>
      </p:sp>
      <p:sp>
        <p:nvSpPr>
          <p:cNvPr id="97" name="Shape 69"/>
          <p:cNvSpPr/>
          <p:nvPr/>
        </p:nvSpPr>
        <p:spPr>
          <a:xfrm>
            <a:off x="2363724" y="3986784"/>
            <a:ext cx="1243584" cy="402336"/>
          </a:xfrm>
          <a:prstGeom prst="roundRect">
            <a:avLst>
              <a:gd name="adj" fmla="val 18182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70"/>
          <p:cNvSpPr/>
          <p:nvPr/>
        </p:nvSpPr>
        <p:spPr>
          <a:xfrm>
            <a:off x="2363724" y="398678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</a:t>
            </a:r>
            <a:endParaRPr lang="en-US" sz="1050" dirty="0"/>
          </a:p>
        </p:txBody>
      </p:sp>
      <p:sp>
        <p:nvSpPr>
          <p:cNvPr id="99" name="Shape 71"/>
          <p:cNvSpPr/>
          <p:nvPr/>
        </p:nvSpPr>
        <p:spPr>
          <a:xfrm>
            <a:off x="955548" y="3493008"/>
            <a:ext cx="1243584" cy="402336"/>
          </a:xfrm>
          <a:prstGeom prst="roundRect">
            <a:avLst>
              <a:gd name="adj" fmla="val 18182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72"/>
          <p:cNvSpPr/>
          <p:nvPr/>
        </p:nvSpPr>
        <p:spPr>
          <a:xfrm>
            <a:off x="955548" y="3493008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</a:t>
            </a:r>
            <a:endParaRPr lang="en-US" sz="1050" dirty="0"/>
          </a:p>
        </p:txBody>
      </p:sp>
      <p:sp>
        <p:nvSpPr>
          <p:cNvPr id="101" name="Shape 73"/>
          <p:cNvSpPr/>
          <p:nvPr/>
        </p:nvSpPr>
        <p:spPr>
          <a:xfrm>
            <a:off x="3717036" y="3493008"/>
            <a:ext cx="1243584" cy="402336"/>
          </a:xfrm>
          <a:prstGeom prst="roundRect">
            <a:avLst>
              <a:gd name="adj" fmla="val 18182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74"/>
          <p:cNvSpPr/>
          <p:nvPr/>
        </p:nvSpPr>
        <p:spPr>
          <a:xfrm>
            <a:off x="3717036" y="3493008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</a:t>
            </a:r>
            <a:endParaRPr lang="en-US" sz="1050" dirty="0"/>
          </a:p>
        </p:txBody>
      </p:sp>
      <p:sp>
        <p:nvSpPr>
          <p:cNvPr id="103" name="Text 75"/>
          <p:cNvSpPr/>
          <p:nvPr/>
        </p:nvSpPr>
        <p:spPr>
          <a:xfrm>
            <a:off x="2199132" y="4425696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카드 UI로 묶임</a:t>
            </a:r>
            <a:endParaRPr lang="en-US" sz="1050" dirty="0"/>
          </a:p>
        </p:txBody>
      </p:sp>
      <p:sp>
        <p:nvSpPr>
          <p:cNvPr id="104" name="Shape 76"/>
          <p:cNvSpPr/>
          <p:nvPr/>
        </p:nvSpPr>
        <p:spPr>
          <a:xfrm>
            <a:off x="2788920" y="4681728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8FAE5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77"/>
          <p:cNvSpPr/>
          <p:nvPr/>
        </p:nvSpPr>
        <p:spPr>
          <a:xfrm>
            <a:off x="2455164" y="468172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ResourceCardUI</a:t>
            </a:r>
            <a:endParaRPr lang="en-US" sz="1100" dirty="0"/>
          </a:p>
        </p:txBody>
      </p:sp>
      <p:sp>
        <p:nvSpPr>
          <p:cNvPr id="106" name="Text 78"/>
          <p:cNvSpPr/>
          <p:nvPr/>
        </p:nvSpPr>
        <p:spPr>
          <a:xfrm>
            <a:off x="2363724" y="51389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Coin·Heart·Resource·Source 를 </a:t>
            </a:r>
            <a:r>
              <a:rPr lang="en-US" sz="850" dirty="0" err="1">
                <a:solidFill>
                  <a:srgbClr val="C9D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850" dirty="0">
                <a:solidFill>
                  <a:srgbClr val="C9D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C9D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850" dirty="0">
              <a:solidFill>
                <a:srgbClr val="C9D4B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C9D4B3"/>
                </a:solidFill>
                <a:latin typeface="Malgun Gothic" pitchFamily="34" charset="0"/>
                <a:ea typeface="Malgun Gothic" pitchFamily="34" charset="-122"/>
              </a:rPr>
              <a:t>카드에 표시되는 정보의 따라 분리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(Food·Building 등은 각자 전용 UI)</a:t>
            </a:r>
            <a:endParaRPr lang="en-US" sz="850" dirty="0"/>
          </a:p>
        </p:txBody>
      </p:sp>
      <p:sp>
        <p:nvSpPr>
          <p:cNvPr id="107" name="Shape 76"/>
          <p:cNvSpPr/>
          <p:nvPr/>
        </p:nvSpPr>
        <p:spPr>
          <a:xfrm>
            <a:off x="955548" y="4681728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8FAE5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77"/>
          <p:cNvSpPr/>
          <p:nvPr/>
        </p:nvSpPr>
        <p:spPr>
          <a:xfrm>
            <a:off x="621792" y="468172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 smtClean="0">
                <a:solidFill>
                  <a:srgbClr val="243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FoodUI</a:t>
            </a:r>
            <a:endParaRPr lang="en-US" sz="1100" dirty="0"/>
          </a:p>
        </p:txBody>
      </p:sp>
      <p:sp>
        <p:nvSpPr>
          <p:cNvPr id="109" name="Shape 76"/>
          <p:cNvSpPr/>
          <p:nvPr/>
        </p:nvSpPr>
        <p:spPr>
          <a:xfrm>
            <a:off x="4645152" y="4681728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8FAE5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77"/>
          <p:cNvSpPr/>
          <p:nvPr/>
        </p:nvSpPr>
        <p:spPr>
          <a:xfrm>
            <a:off x="4311396" y="468172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 smtClean="0">
                <a:solidFill>
                  <a:srgbClr val="243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SourceUI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654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TECHNOLOGY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기술 2가지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5440680" cy="502920"/>
          </a:xfrm>
          <a:prstGeom prst="rect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DB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09928" y="1719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 데이터 기반 설계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Data-Driven Design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내용을 ‘데이터 파일’로 </a:t>
            </a:r>
            <a:r>
              <a:rPr lang="en-US" sz="145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algn="l">
              <a:buSzPct val="100000"/>
            </a:pP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카드·레시피·날씨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요소를 코드가 아닌 데이터로 </a:t>
            </a: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관리한다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algn="l">
              <a:buSzPct val="100000"/>
            </a:pPr>
            <a:endParaRPr lang="en-US" sz="1450" dirty="0"/>
          </a:p>
          <a:p>
            <a:pPr marL="228600" indent="-228600" algn="l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</a:t>
            </a:r>
            <a:r>
              <a:rPr lang="en-US" sz="145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algn="l">
              <a:buSzPct val="100000"/>
            </a:pP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건드리지 않고 데이터만 바꿔 수치·확률을 바로 조정 → 밸런싱이 </a:t>
            </a: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algn="l">
              <a:buSzPct val="100000"/>
            </a:pPr>
            <a:endParaRPr lang="en-US" sz="1450" dirty="0"/>
          </a:p>
          <a:p>
            <a:pPr marL="228600" indent="-228600" algn="l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추가·재사용이 </a:t>
            </a:r>
            <a:r>
              <a:rPr lang="en-US" sz="145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algn="l">
              <a:buSzPct val="100000"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카드를 넣어도 기존 코드를 거의 고칠 필요가 없다.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81928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114300" dist="50800" dir="5400000" algn="bl" rotWithShape="0">
              <a:srgbClr val="3A3A2A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81928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81928" y="2103120"/>
            <a:ext cx="5440680" cy="502920"/>
          </a:xfrm>
          <a:prstGeom prst="rect">
            <a:avLst/>
          </a:prstGeom>
          <a:solidFill>
            <a:srgbClr val="8C62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1737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B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24928" y="1719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고유 스택 관리 시스템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 Stacking System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47688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더미를 한 묶음으로 </a:t>
            </a:r>
            <a:r>
              <a:rPr lang="en-US" sz="145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algn="l">
              <a:buSzPct val="100000"/>
            </a:pP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쌓인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카드들을 자동으로 가지런히 정렬해 </a:t>
            </a: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algn="l">
              <a:buSzPct val="100000"/>
            </a:pPr>
            <a:endParaRPr lang="en-US" sz="1450" dirty="0"/>
          </a:p>
          <a:p>
            <a:pPr marL="228600" indent="-228600" algn="l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집고 놓으면 알아서 </a:t>
            </a:r>
            <a:r>
              <a:rPr lang="en-US" sz="145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algn="l">
              <a:buSzPct val="100000"/>
            </a:pP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내려놓으면 가까운 더미에 저절로 합쳐지고, 같은 카드는 자동으로 </a:t>
            </a: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쌓인다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algn="l">
              <a:buSzPct val="100000"/>
            </a:pPr>
            <a:endParaRPr lang="en-US" sz="1450" dirty="0"/>
          </a:p>
          <a:p>
            <a:pPr marL="228600" indent="-228600" algn="l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스택에 규칙이 </a:t>
            </a:r>
            <a:r>
              <a:rPr lang="en-US" sz="145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algn="l">
              <a:buSzPct val="100000"/>
            </a:pPr>
            <a:r>
              <a:rPr lang="en-US" sz="13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주민은</a:t>
            </a: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항상 맨 위에 놓이고, 적·얼린 카드는 합쳐지지 않는다.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Video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</a:rPr>
              <a:t>플레이 영상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959" y="1875308"/>
            <a:ext cx="3218793" cy="321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2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 · FUTURE WORK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아쉬웠던 점 &amp; </a:t>
            </a:r>
            <a:r>
              <a:rPr lang="en-US" sz="2700" b="1" dirty="0" err="1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</a:t>
            </a: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추가하고 싶은 것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340096" cy="4617720"/>
          </a:xfrm>
          <a:prstGeom prst="roundRect">
            <a:avLst>
              <a:gd name="adj" fmla="val 237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5340096" cy="841248"/>
          </a:xfrm>
          <a:prstGeom prst="roundRect">
            <a:avLst>
              <a:gd name="adj" fmla="val 13043"/>
            </a:avLst>
          </a:prstGeom>
          <a:solidFill>
            <a:srgbClr val="C266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883664"/>
            <a:ext cx="5340096" cy="420624"/>
          </a:xfrm>
          <a:prstGeom prst="rect">
            <a:avLst/>
          </a:prstGeom>
          <a:solidFill>
            <a:srgbClr val="C266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591056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아쉬웠던 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196596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9536" y="2505456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59536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81328" y="2468880"/>
            <a:ext cx="4197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외부 연동 부재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81328" y="2852928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초반에 CSV·구글 시트를 연동했다면, </a:t>
            </a:r>
            <a:r>
              <a:rPr lang="en-US" sz="12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친화적으로</a:t>
            </a: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밸런스 수치 조정이 훨씬 편했을 것.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" y="3712464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59536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3675888"/>
            <a:ext cx="4197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로컬라이징 미고려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05993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스트링 테이블로 분리하지 않아, 다국어(로컬라이징) 확장을 초기에 고려하지 못함.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81344" y="1463040"/>
            <a:ext cx="5340096" cy="4617720"/>
          </a:xfrm>
          <a:prstGeom prst="roundRect">
            <a:avLst>
              <a:gd name="adj" fmla="val 237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blurRad="88900" dist="38100" dir="5400000" algn="bl" rotWithShape="0">
              <a:srgbClr val="3A3A2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181344" y="1463040"/>
            <a:ext cx="5340096" cy="841248"/>
          </a:xfrm>
          <a:prstGeom prst="roundRect">
            <a:avLst>
              <a:gd name="adj" fmla="val 13043"/>
            </a:avLst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181344" y="1883664"/>
            <a:ext cx="5340096" cy="420624"/>
          </a:xfrm>
          <a:prstGeom prst="rect">
            <a:avLst/>
          </a:prstGeom>
          <a:solidFill>
            <a:srgbClr val="4A65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01384" y="1591056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추가하고 싶은 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01384" y="196596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73952" y="2505456"/>
            <a:ext cx="457200" cy="457200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73952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95744" y="2468880"/>
            <a:ext cx="4197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이동 · 포탈 탐험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095744" y="2852928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레퍼런스(Stacklands)에서 재밌었던 요소 — 포탈로 다른 지역에 가서 탐험하는 콘텐츠.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73952" y="3712464"/>
            <a:ext cx="457200" cy="457200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7395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95744" y="3675888"/>
            <a:ext cx="4197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</a:t>
            </a:r>
            <a:r>
              <a:rPr lang="en-US" altLang="ko-KR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r>
              <a:rPr lang="ko-KR" alt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시스템 확장 가능성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095744" y="405993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태풍날씨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카드가 </a:t>
            </a:r>
            <a:r>
              <a:rPr lang="ko-KR" altLang="en-US" sz="12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흔들릴때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 속성 </a:t>
            </a:r>
            <a:r>
              <a:rPr lang="ko-KR" altLang="en-US" sz="12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정령카드를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올려놓으면 흔들림이 멈춤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7395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19" name="Shape 30">
            <a:extLst>
              <a:ext uri="{FF2B5EF4-FFF2-40B4-BE49-F238E27FC236}">
                <a16:creationId xmlns:a16="http://schemas.microsoft.com/office/drawing/2014/main" id="{44FEAE3F-FF2D-BC7C-B7FD-F1B0CA024C43}"/>
              </a:ext>
            </a:extLst>
          </p:cNvPr>
          <p:cNvSpPr/>
          <p:nvPr/>
        </p:nvSpPr>
        <p:spPr>
          <a:xfrm>
            <a:off x="6496812" y="4919472"/>
            <a:ext cx="457200" cy="457200"/>
          </a:xfrm>
          <a:prstGeom prst="ellipse">
            <a:avLst/>
          </a:prstGeom>
          <a:solidFill>
            <a:srgbClr val="8FAE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31">
            <a:extLst>
              <a:ext uri="{FF2B5EF4-FFF2-40B4-BE49-F238E27FC236}">
                <a16:creationId xmlns:a16="http://schemas.microsoft.com/office/drawing/2014/main" id="{13032460-1017-EFFB-BDDC-6754D176BFA0}"/>
              </a:ext>
            </a:extLst>
          </p:cNvPr>
          <p:cNvSpPr/>
          <p:nvPr/>
        </p:nvSpPr>
        <p:spPr>
          <a:xfrm>
            <a:off x="649681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</a:rPr>
              <a:t>3</a:t>
            </a:r>
            <a:endParaRPr lang="en-US" sz="1500" dirty="0"/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ED60FB9D-A896-680C-AB4F-AF25E4FEC6AA}"/>
              </a:ext>
            </a:extLst>
          </p:cNvPr>
          <p:cNvSpPr/>
          <p:nvPr/>
        </p:nvSpPr>
        <p:spPr>
          <a:xfrm>
            <a:off x="7118604" y="4882896"/>
            <a:ext cx="4197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정보 팝업 </a:t>
            </a:r>
            <a:r>
              <a:rPr lang="en-US" altLang="ko-KR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5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14056072-DFC8-7FA7-A0D0-D880474E84F3}"/>
              </a:ext>
            </a:extLst>
          </p:cNvPr>
          <p:cNvSpPr/>
          <p:nvPr/>
        </p:nvSpPr>
        <p:spPr>
          <a:xfrm>
            <a:off x="7118604" y="5266944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Coin 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</a:t>
            </a:r>
            <a:r>
              <a:rPr lang="en-US" altLang="ko-KR" sz="12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r>
              <a:rPr lang="en-US" altLang="ko-KR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건물 카드를 </a:t>
            </a:r>
            <a:r>
              <a:rPr lang="ko-KR" altLang="en-US" sz="1200" dirty="0" err="1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집을시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정보가 나오게 구현</a:t>
            </a:r>
            <a:endParaRPr lang="en-US" sz="12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4BB96F34-DE45-302F-15A6-62C502D5ACC6}"/>
              </a:ext>
            </a:extLst>
          </p:cNvPr>
          <p:cNvSpPr/>
          <p:nvPr/>
        </p:nvSpPr>
        <p:spPr>
          <a:xfrm>
            <a:off x="811530" y="4924044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A7F9A73B-B330-E3EF-8C68-760EBD323AC4}"/>
              </a:ext>
            </a:extLst>
          </p:cNvPr>
          <p:cNvSpPr/>
          <p:nvPr/>
        </p:nvSpPr>
        <p:spPr>
          <a:xfrm>
            <a:off x="81153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</a:rPr>
              <a:t>3</a:t>
            </a:r>
            <a:endParaRPr lang="en-US" sz="15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B43ACBCA-64D7-8CDA-1663-6C65DEB4D334}"/>
              </a:ext>
            </a:extLst>
          </p:cNvPr>
          <p:cNvSpPr/>
          <p:nvPr/>
        </p:nvSpPr>
        <p:spPr>
          <a:xfrm>
            <a:off x="1433322" y="4887468"/>
            <a:ext cx="4197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개선</a:t>
            </a:r>
            <a:endParaRPr lang="en-US" sz="145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2821165C-2691-88AF-B341-899A92BD8F45}"/>
              </a:ext>
            </a:extLst>
          </p:cNvPr>
          <p:cNvSpPr/>
          <p:nvPr/>
        </p:nvSpPr>
        <p:spPr>
          <a:xfrm>
            <a:off x="1433322" y="527151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게임에 있던 레시피 아이템 시스템 구현 못함</a:t>
            </a:r>
            <a:endParaRPr lang="en-US" altLang="ko-KR" sz="1200" dirty="0">
              <a:solidFill>
                <a:srgbClr val="6B6A5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레시피 </a:t>
            </a:r>
            <a:r>
              <a:rPr lang="en-US" altLang="ko-KR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UI </a:t>
            </a:r>
            <a:r>
              <a:rPr lang="ko-KR" alt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</a:rPr>
              <a:t>개선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1161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84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8492A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2331720"/>
            <a:ext cx="12188952" cy="2240280"/>
          </a:xfrm>
          <a:prstGeom prst="rect">
            <a:avLst/>
          </a:prstGeom>
          <a:solidFill>
            <a:srgbClr val="3849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1C241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SpiritStack</a:t>
            </a:r>
            <a:r>
              <a:rPr lang="en-US" sz="18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카드 스태킹 생존 경영 게임   ·   Build </a:t>
            </a:r>
            <a:r>
              <a:rPr lang="en-US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en-US" sz="18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.0.0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김지해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1446</Words>
  <Application>Microsoft Office PowerPoint</Application>
  <PresentationFormat>와이드스크린</PresentationFormat>
  <Paragraphs>395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Malgun Gothic</vt:lpstr>
      <vt:lpstr>Malgun Gothic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SpiritStack 프로젝트 발표</dc:title>
  <dc:subject>PptxGenJS Presentation</dc:subject>
  <dc:creator>김지해</dc:creator>
  <cp:lastModifiedBy>KJH</cp:lastModifiedBy>
  <cp:revision>45</cp:revision>
  <dcterms:created xsi:type="dcterms:W3CDTF">2026-06-07T20:11:08Z</dcterms:created>
  <dcterms:modified xsi:type="dcterms:W3CDTF">2026-06-09T01:44:19Z</dcterms:modified>
</cp:coreProperties>
</file>