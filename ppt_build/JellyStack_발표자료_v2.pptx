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38492A">
              <a:alpha val="8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5029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49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프로젝트 발표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4297680"/>
            <a:ext cx="100584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5400000">
              <a:srgbClr val="1C2415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JellyStack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621792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3E8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쌓아 마을을 키우는 생존 경영 시뮬레이션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21792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김지해</a:t>
            </a:r>
            <a:pPr algn="l" indent="0" marL="0">
              <a:buNone/>
            </a:pPr>
            <a:r>
              <a:rPr 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|      Build 0.3.0      |      2026. 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46504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709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게임 소개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0208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Stacklands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386584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505456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2468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 게임 소개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53312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게임 루프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145536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264408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53312" y="3227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53312" y="3538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904488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023360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53312" y="39867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요약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297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3.5주 개발 과정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63440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4782312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53312" y="47457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① 날씨 시스템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53312" y="50566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542239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5541264"/>
            <a:ext cx="420624" cy="420624"/>
          </a:xfrm>
          <a:prstGeom prst="ellipse">
            <a:avLst/>
          </a:prstGeom>
          <a:solidFill>
            <a:srgbClr val="4A6535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5541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53312" y="5504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② 주민 속성 시스템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53312" y="58155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Villager Attributes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162763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56248" y="1746504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36" name="Text 34"/>
          <p:cNvSpPr/>
          <p:nvPr/>
        </p:nvSpPr>
        <p:spPr>
          <a:xfrm>
            <a:off x="6556248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41464" y="17099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③ 세계수 드롭 시스템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41464" y="20208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Tree Drop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386584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56248" y="2505456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41" name="Text 39"/>
          <p:cNvSpPr/>
          <p:nvPr/>
        </p:nvSpPr>
        <p:spPr>
          <a:xfrm>
            <a:off x="6556248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41464" y="24688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④ 레시피별 이펙트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41464" y="27797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 Effects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3145536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56248" y="3264408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46" name="Text 44"/>
          <p:cNvSpPr/>
          <p:nvPr/>
        </p:nvSpPr>
        <p:spPr>
          <a:xfrm>
            <a:off x="6556248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141464" y="3227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· 설계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141464" y="3538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3904488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56248" y="4023360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51" name="Text 49"/>
          <p:cNvSpPr/>
          <p:nvPr/>
        </p:nvSpPr>
        <p:spPr>
          <a:xfrm>
            <a:off x="6556248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141464" y="39867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기술 2가지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141464" y="4297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4663440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556248" y="4782312"/>
            <a:ext cx="420624" cy="420624"/>
          </a:xfrm>
          <a:prstGeom prst="ellipse">
            <a:avLst/>
          </a:prstGeom>
          <a:solidFill>
            <a:srgbClr val="8C6239"/>
          </a:solidFill>
          <a:ln/>
        </p:spPr>
      </p:sp>
      <p:sp>
        <p:nvSpPr>
          <p:cNvPr id="56" name="Text 54"/>
          <p:cNvSpPr/>
          <p:nvPr/>
        </p:nvSpPr>
        <p:spPr>
          <a:xfrm>
            <a:off x="6556248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141464" y="47457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변경된 사항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7141464" y="50566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61" name="Text 59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 GAME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게임 — Stacklands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806440" cy="4754880"/>
          </a:xfrm>
          <a:prstGeom prst="roundRect">
            <a:avLst>
              <a:gd name="adj" fmla="val 2308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642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Stacklands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Sokpop Collective · 2022 · 카드 스태킹 마을 건설 / 생존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쌓아 상호작용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주민을 자원·건물에 올려 채집·제작·전투를 자동화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수집과 발견 중심의 확장</a:t>
            </a:r>
            <a:endParaRPr lang="en-US" sz="14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200여 종 카드 · 13종 카드팩(요리·농사·건설) · 퀘스트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문(Moon) 주기 생존 · 로그라이트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주기마다 식량 소비, 적과 자동 전투로 버티는 생존 루프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14400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압도적 긍정 평가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15768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715768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카드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17136" y="50292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5120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13종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17136" y="5596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9400" y="1417320"/>
            <a:ext cx="4992624" cy="4754880"/>
          </a:xfrm>
          <a:prstGeom prst="roundRect">
            <a:avLst>
              <a:gd name="adj" fmla="val 2308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1627632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게임의 재미 · 레퍼런스로 삼은 이유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922008" y="21671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</p:sp>
      <p:pic>
        <p:nvPicPr>
          <p:cNvPr id="21" name="Image 0" descr="img/vill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13448" y="2240280"/>
            <a:ext cx="530352" cy="5669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772400" y="21214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편안한 몰입감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772400" y="24871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조작 없이 카드를 쌓는 명상적이고 느긋한 플레이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22008" y="30815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</p:sp>
      <p:pic>
        <p:nvPicPr>
          <p:cNvPr id="25" name="Image 1" descr="img/cardPack_0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13448" y="3154680"/>
            <a:ext cx="530352" cy="56692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72400" y="30358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수집·조합의 재미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7772400" y="34015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수많은 카드와 숨은 조합을 발견하는 성취감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922008" y="39959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</p:sp>
      <p:pic>
        <p:nvPicPr>
          <p:cNvPr id="29" name="Image 2" descr="img/card_hous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13448" y="4069080"/>
            <a:ext cx="530352" cy="56692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72400" y="39502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규칙, 깊은 성장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7772400" y="43159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진입 + 마을이 커지는 의미 있는 성장 루프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922008" y="4910328"/>
            <a:ext cx="713232" cy="713232"/>
          </a:xfrm>
          <a:prstGeom prst="ellipse">
            <a:avLst/>
          </a:prstGeom>
          <a:solidFill>
            <a:srgbClr val="FCF8EE"/>
          </a:solidFill>
          <a:ln/>
        </p:spPr>
      </p:sp>
      <p:pic>
        <p:nvPicPr>
          <p:cNvPr id="33" name="Image 3" descr="img/card_campfi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13448" y="4983480"/>
            <a:ext cx="530352" cy="56692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772400" y="4864608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따뜻한 핸드드로잉 감성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7772400" y="52303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귀엽고 아늑한 아트가 주는 편안한 분위기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903720" y="574243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E0A2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‘단순하지만 깊은’ 카드 스태킹 루프와 따뜻한 감성에 매력을 느껴 JellyStack 의 모티브로 삼았다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9" name="Text 33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GAME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 — 게임 소개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7" name="Image 0" descr="img/vill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1627632"/>
            <a:ext cx="960120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84248" y="1481328"/>
            <a:ext cx="9418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카드를 중심으로 자원을 모으고, 제작하고, 마을을 지켜내는 생존 경영 게임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쌓아 작업을 지시하고 · 하루가 지날 때마다 식량으로 주민을 먹이며 · 적의 습격과 변화하는 날씨를 버텨낸다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3035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게임 루프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12" name="Image 1" descr="img/villag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8992" y="3886200"/>
            <a:ext cx="950976" cy="9509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스택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+ 자원/도구 카드를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겹쳐 작업 시작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505456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2734056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081528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18" name="Image 2" descr="img/card_campfi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46120" y="3886200"/>
            <a:ext cx="950976" cy="9509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34056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· 제작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2825496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레시피에 따라 자원 채집,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· 도구 생산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672584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4901184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48656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24" name="Image 3" descr="img/berry-bus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13248" y="3886200"/>
            <a:ext cx="950976" cy="9509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01184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경과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992624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 = 하루, 매일 주민이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식량을 소비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839712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7068312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15784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30" name="Image 4" descr="img/enemy_0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80376" y="3886200"/>
            <a:ext cx="950976" cy="9509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68312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웨이브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159752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포탈에서 적 출현,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주민과 자동 전투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006840" y="4023360"/>
            <a:ext cx="265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9235440" y="3520440"/>
            <a:ext cx="1975104" cy="2423160"/>
          </a:xfrm>
          <a:prstGeom prst="roundRect">
            <a:avLst>
              <a:gd name="adj" fmla="val 555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582912" y="3721608"/>
            <a:ext cx="1280160" cy="1280160"/>
          </a:xfrm>
          <a:prstGeom prst="ellipse">
            <a:avLst/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36" name="Image 5" descr="img/coi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747504" y="3886200"/>
            <a:ext cx="950976" cy="95097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35440" y="503834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 순환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326880" y="53492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판매 → 코인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 구매로 확장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66928" y="60533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반복되는 사이클 — 식량·전투·날씨를 관리하며 더 오래 생존하는 것이 목표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42" name="Text 34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8" name="Image 0" descr="img/vill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1938528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7393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스택 &amp; 자동 스택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77393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드래그·겹침, 인접 동종 카드 자동 정렬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644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761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13" name="Image 1" descr="img/card_campfi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9056" y="1938528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345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· 제작 시스템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5345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조합 → 음식·도구·건물 생산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5968" y="1554480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7136" y="184708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18" name="Image 2" descr="img/card_tre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8576" y="1938528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32976" y="1810512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&amp; 랜덤 보상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332976" y="2231136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채집, 결과 확률형 드랍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6692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6809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23" name="Image 3" descr="img/berry-bus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9536" y="3557016"/>
            <a:ext cx="685800" cy="685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7393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사이클 &amp; 식량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77393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2분=하루, 식량 공급·아사 처리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4644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4761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28" name="Image 4" descr="img/cardPack_0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39056" y="3557016"/>
            <a:ext cx="685800" cy="6858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5345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 시스템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55345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스타터팩 · 가중치 확률 랜덤팩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25968" y="3172968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27136" y="3465576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33" name="Image 5" descr="img/coi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18576" y="3557016"/>
            <a:ext cx="685800" cy="6858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332976" y="342900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&amp; 코인 경제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9332976" y="384962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구매/판매 거점, 코인 주머니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6692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6809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38" name="Image 6" descr="img/enemy_01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59536" y="5175504"/>
            <a:ext cx="685800" cy="6858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77393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웨이브 &amp; 전투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177393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포탈 출현, 자동 전투·드랍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34644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54761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43" name="Image 7" descr="img/icon_weather_sunny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639056" y="5175504"/>
            <a:ext cx="685800" cy="6858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55345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</a:t>
            </a:r>
            <a:endParaRPr lang="en-US" sz="1450" dirty="0"/>
          </a:p>
        </p:txBody>
      </p:sp>
      <p:sp>
        <p:nvSpPr>
          <p:cNvPr id="45" name="Text 35"/>
          <p:cNvSpPr/>
          <p:nvPr/>
        </p:nvSpPr>
        <p:spPr>
          <a:xfrm>
            <a:off x="555345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룰렛 기반 4종 날씨 효과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8125968" y="4791456"/>
            <a:ext cx="3505200" cy="1417320"/>
          </a:xfrm>
          <a:prstGeom prst="roundRect">
            <a:avLst>
              <a:gd name="adj" fmla="val 645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27136" y="5084064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</p:spPr>
      </p:sp>
      <p:pic>
        <p:nvPicPr>
          <p:cNvPr id="48" name="Image 8" descr="img/card_storage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18576" y="5175504"/>
            <a:ext cx="685800" cy="6858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332976" y="5047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세이브 / 로드</a:t>
            </a:r>
            <a:endParaRPr lang="en-US" sz="1450" dirty="0"/>
          </a:p>
        </p:txBody>
      </p:sp>
      <p:sp>
        <p:nvSpPr>
          <p:cNvPr id="50" name="Text 39"/>
          <p:cNvSpPr/>
          <p:nvPr/>
        </p:nvSpPr>
        <p:spPr>
          <a:xfrm>
            <a:off x="9332976" y="546811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게임 상태 저장·복원</a:t>
            </a:r>
            <a:endParaRPr lang="en-US" sz="1100" dirty="0"/>
          </a:p>
        </p:txBody>
      </p:sp>
      <p:sp>
        <p:nvSpPr>
          <p:cNvPr id="51" name="Text 40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53" name="Text 42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요약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8448" y="1097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05. 14  ~  06. 07   ·   약 3.5주 · 101 커밋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2679192" cy="4434840"/>
          </a:xfrm>
          <a:prstGeom prst="roundRect">
            <a:avLst>
              <a:gd name="adj" fmla="val 409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600200"/>
            <a:ext cx="2679192" cy="1078992"/>
          </a:xfrm>
          <a:prstGeom prst="roundRect">
            <a:avLst>
              <a:gd name="adj" fmla="val 10169"/>
            </a:avLst>
          </a:prstGeom>
          <a:solidFill>
            <a:srgbClr val="4A6535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240280"/>
            <a:ext cx="2679192" cy="438912"/>
          </a:xfrm>
          <a:prstGeom prst="rect">
            <a:avLst/>
          </a:prstGeom>
          <a:solidFill>
            <a:srgbClr val="4A6535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46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0025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05.14 ~ 05.19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27685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" y="2898648"/>
            <a:ext cx="22585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셋팅 · 폴더 구조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UI 출력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줌·이동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PlayerInput 입력 시스템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4992" y="1600200"/>
            <a:ext cx="2679192" cy="4434840"/>
          </a:xfrm>
          <a:prstGeom prst="roundRect">
            <a:avLst>
              <a:gd name="adj" fmla="val 409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4992" y="1600200"/>
            <a:ext cx="2679192" cy="1078992"/>
          </a:xfrm>
          <a:prstGeom prst="roundRect">
            <a:avLst>
              <a:gd name="adj" fmla="val 10169"/>
            </a:avLst>
          </a:prstGeom>
          <a:solidFill>
            <a:srgbClr val="8FAE5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64992" y="2240280"/>
            <a:ext cx="2679192" cy="438912"/>
          </a:xfrm>
          <a:prstGeom prst="rect">
            <a:avLst/>
          </a:prstGeom>
          <a:solidFill>
            <a:srgbClr val="8FAE55"/>
          </a:solidFill>
          <a:ln/>
        </p:spPr>
      </p:sp>
      <p:sp>
        <p:nvSpPr>
          <p:cNvPr id="17" name="Text 15"/>
          <p:cNvSpPr/>
          <p:nvPr/>
        </p:nvSpPr>
        <p:spPr>
          <a:xfrm>
            <a:off x="3547872" y="1746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47872" y="20025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05.20 ~ 05.25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47872" y="227685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게임플레이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84448" y="2898648"/>
            <a:ext cx="22585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· 레시피 조합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카드 자동 스택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카드팩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사이클 · 식량 · 게임오버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1600200"/>
            <a:ext cx="2679192" cy="4434840"/>
          </a:xfrm>
          <a:prstGeom prst="roundRect">
            <a:avLst>
              <a:gd name="adj" fmla="val 409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600200"/>
            <a:ext cx="2679192" cy="1078992"/>
          </a:xfrm>
          <a:prstGeom prst="roundRect">
            <a:avLst>
              <a:gd name="adj" fmla="val 10169"/>
            </a:avLst>
          </a:prstGeom>
          <a:solidFill>
            <a:srgbClr val="E0A2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163056" y="2240280"/>
            <a:ext cx="2679192" cy="438912"/>
          </a:xfrm>
          <a:prstGeom prst="rect">
            <a:avLst/>
          </a:prstGeom>
          <a:solidFill>
            <a:srgbClr val="E0A23A"/>
          </a:solidFill>
          <a:ln/>
        </p:spPr>
      </p:sp>
      <p:sp>
        <p:nvSpPr>
          <p:cNvPr id="24" name="Text 22"/>
          <p:cNvSpPr/>
          <p:nvPr/>
        </p:nvSpPr>
        <p:spPr>
          <a:xfrm>
            <a:off x="6345936" y="1746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5936" y="20025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05.26 ~ 06.01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5936" y="227685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확장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82512" y="2898648"/>
            <a:ext cx="22585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 · 코인 경제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카드팩 확률 시스템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시스템 · 포탈 · 전투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 (4종)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0" y="1600200"/>
            <a:ext cx="2679192" cy="4434840"/>
          </a:xfrm>
          <a:prstGeom prst="roundRect">
            <a:avLst>
              <a:gd name="adj" fmla="val 409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0" y="1600200"/>
            <a:ext cx="2679192" cy="1078992"/>
          </a:xfrm>
          <a:prstGeom prst="roundRect">
            <a:avLst>
              <a:gd name="adj" fmla="val 10169"/>
            </a:avLst>
          </a:prstGeom>
          <a:solidFill>
            <a:srgbClr val="8C6239"/>
          </a:solidFill>
          <a:ln/>
        </p:spPr>
      </p:sp>
      <p:sp>
        <p:nvSpPr>
          <p:cNvPr id="30" name="Shape 28"/>
          <p:cNvSpPr/>
          <p:nvPr/>
        </p:nvSpPr>
        <p:spPr>
          <a:xfrm>
            <a:off x="8961120" y="2240280"/>
            <a:ext cx="2679192" cy="438912"/>
          </a:xfrm>
          <a:prstGeom prst="rect">
            <a:avLst/>
          </a:prstGeom>
          <a:solidFill>
            <a:srgbClr val="8C6239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17465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20025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06.02 ~ 06.07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2276856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 · 저장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80576" y="2898648"/>
            <a:ext cx="22585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씬 · 카드 제약/최대수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세이브 / 로드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→ 최대 카드 수 증가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이펙트 · 사운드 · UI 보강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7" name="Text 35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①  ·  레퍼런스와 다른 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시스템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pic>
        <p:nvPicPr>
          <p:cNvPr id="7" name="Image 0" descr="img/Roulet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1288" y="1828800"/>
            <a:ext cx="246888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4526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7일마다 룰렛 추첨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날씨를 무작위로 결정하고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동안 효과가 지속된다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150876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892808"/>
            <a:ext cx="1371600" cy="1371600"/>
          </a:xfrm>
          <a:prstGeom prst="ellipse">
            <a:avLst/>
          </a:prstGeom>
          <a:solidFill>
            <a:srgbClr val="FBE7B0"/>
          </a:solidFill>
          <a:ln/>
        </p:spPr>
      </p:sp>
      <p:pic>
        <p:nvPicPr>
          <p:cNvPr id="11" name="Image 1" descr="img/icon_weather_sunn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2093976"/>
            <a:ext cx="969264" cy="9692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189280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78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맑음 (Sunny)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55080" y="240487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결과 30% 확률로 2배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34172" y="150876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0204" y="1892808"/>
            <a:ext cx="1371600" cy="1371600"/>
          </a:xfrm>
          <a:prstGeom prst="ellipse">
            <a:avLst/>
          </a:prstGeom>
          <a:solidFill>
            <a:srgbClr val="CFE3F2"/>
          </a:solidFill>
          <a:ln/>
        </p:spPr>
      </p:sp>
      <p:pic>
        <p:nvPicPr>
          <p:cNvPr id="16" name="Image 2" descr="img/icon_weather_rai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91372" y="2093976"/>
            <a:ext cx="969264" cy="9692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17252" y="189280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E6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(Rain)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0017252" y="240487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속도 1.5배 가속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0" y="397764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28032" y="4361688"/>
            <a:ext cx="1371600" cy="1371600"/>
          </a:xfrm>
          <a:prstGeom prst="ellipse">
            <a:avLst/>
          </a:prstGeom>
          <a:solidFill>
            <a:srgbClr val="E2ECF4"/>
          </a:solidFill>
          <a:ln/>
        </p:spPr>
      </p:sp>
      <p:pic>
        <p:nvPicPr>
          <p:cNvPr id="21" name="Image 3" descr="img/icon_weather_snow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0" y="4562856"/>
            <a:ext cx="969264" cy="9692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436168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E7C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(Snow)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355080" y="487375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카드 2장 빙결 → 사용 불가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234172" y="3977640"/>
            <a:ext cx="338785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90204" y="4361688"/>
            <a:ext cx="1371600" cy="1371600"/>
          </a:xfrm>
          <a:prstGeom prst="ellipse">
            <a:avLst/>
          </a:prstGeom>
          <a:solidFill>
            <a:srgbClr val="D8D6E6"/>
          </a:solidFill>
          <a:ln/>
        </p:spPr>
      </p:sp>
      <p:pic>
        <p:nvPicPr>
          <p:cNvPr id="26" name="Image 4" descr="img/icon_weather_storm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91372" y="4562856"/>
            <a:ext cx="969264" cy="9692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17252" y="4361688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5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폭풍 (Storm)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0017252" y="4873752"/>
            <a:ext cx="14218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흔들림, 매일 1장씩 날아감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1" name="Text 24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②  ·  레퍼런스와 다른 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속성 시스템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속성 주민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627632" cy="2057400"/>
          </a:xfrm>
          <a:prstGeom prst="roundRect">
            <a:avLst>
              <a:gd name="adj" fmla="val 6742"/>
            </a:avLst>
          </a:prstGeom>
          <a:solidFill>
            <a:srgbClr val="ECE6D6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8" name="Image 0" descr="img/villa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" y="2029968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(Normal)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377440" y="1828800"/>
            <a:ext cx="1627632" cy="2057400"/>
          </a:xfrm>
          <a:prstGeom prst="roundRect">
            <a:avLst>
              <a:gd name="adj" fmla="val 6742"/>
            </a:avLst>
          </a:prstGeom>
          <a:solidFill>
            <a:srgbClr val="FCE3D2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1" name="Image 1" descr="img/Villager_Fi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88336" y="2029968"/>
            <a:ext cx="100584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77440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 (Fire)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187952" y="1828800"/>
            <a:ext cx="1627632" cy="2057400"/>
          </a:xfrm>
          <a:prstGeom prst="roundRect">
            <a:avLst>
              <a:gd name="adj" fmla="val 6742"/>
            </a:avLst>
          </a:prstGeom>
          <a:solidFill>
            <a:srgbClr val="D6E8F2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4" name="Image 2" descr="img/Villager_Wat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98848" y="2029968"/>
            <a:ext cx="1005840" cy="10058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87952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 (Water)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998464" y="1828800"/>
            <a:ext cx="1627632" cy="2057400"/>
          </a:xfrm>
          <a:prstGeom prst="roundRect">
            <a:avLst>
              <a:gd name="adj" fmla="val 6742"/>
            </a:avLst>
          </a:prstGeom>
          <a:solidFill>
            <a:srgbClr val="E4E0D6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7" name="Image 3" descr="img/Villager_Ston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09360" y="2029968"/>
            <a:ext cx="1005840" cy="10058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98464" y="3154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 (Stone)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66928" y="397764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6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VillagerType { Normal, Fire, Water, Stone }  +  속성별 외형·특성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66928" y="4434840"/>
            <a:ext cx="7040880" cy="1737360"/>
          </a:xfrm>
          <a:prstGeom prst="roundRect">
            <a:avLst>
              <a:gd name="adj" fmla="val 6316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21" name="Image 4" descr="img/baby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1248" y="4709160"/>
            <a:ext cx="1143000" cy="1143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167128" y="4617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→ 성장 시스템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카드는 채집·제작에 참여하지 못하며, 3일이 지나면 성인 주민(adultData)으로 성장한다.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7726680" y="1417320"/>
            <a:ext cx="3886200" cy="4754880"/>
          </a:xfrm>
          <a:prstGeom prst="roundRect">
            <a:avLst>
              <a:gd name="adj" fmla="val 2824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726680" y="1645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주민이 가지는 스탯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7955280" y="2148840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26" name="Text 19"/>
          <p:cNvSpPr/>
          <p:nvPr/>
        </p:nvSpPr>
        <p:spPr>
          <a:xfrm>
            <a:off x="8138160" y="22219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 (Health)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813816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적의 공격으로 감소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955280" y="2953512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29" name="Text 22"/>
          <p:cNvSpPr/>
          <p:nvPr/>
        </p:nvSpPr>
        <p:spPr>
          <a:xfrm>
            <a:off x="8138160" y="30266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배고픔 (Hunger)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138160" y="3319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증가, 0이면 사망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955280" y="3758184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32" name="Text 25"/>
          <p:cNvSpPr/>
          <p:nvPr/>
        </p:nvSpPr>
        <p:spPr>
          <a:xfrm>
            <a:off x="8138160" y="3831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공격력 (Attack)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8138160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시 적에게 피해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955280" y="4562856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35" name="Text 28"/>
          <p:cNvSpPr/>
          <p:nvPr/>
        </p:nvSpPr>
        <p:spPr>
          <a:xfrm>
            <a:off x="8138160" y="46360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속도 (Work Speed)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138160" y="4928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소요시간 단축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955280" y="5367528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FCF8EE"/>
          </a:solidFill>
          <a:ln/>
        </p:spPr>
      </p:sp>
      <p:sp>
        <p:nvSpPr>
          <p:cNvPr id="38" name="Text 31"/>
          <p:cNvSpPr/>
          <p:nvPr/>
        </p:nvSpPr>
        <p:spPr>
          <a:xfrm>
            <a:off x="8138160" y="5440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간격 (Interval)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8138160" y="5733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전투 공격 주기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42" name="Text 35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③  ·  추가 구현 콘텐츠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랜덤 드롭 시스템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200400" cy="4617720"/>
          </a:xfrm>
          <a:prstGeom prst="roundRect">
            <a:avLst>
              <a:gd name="adj" fmla="val 3429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7" name="Image 0" descr="img/card_world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1288" y="1874520"/>
            <a:ext cx="201168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카드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449884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필드에 랜덤으로 생성되어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 채집할 수 있는 나무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69080" y="1481328"/>
            <a:ext cx="7552944" cy="2788920"/>
          </a:xfrm>
          <a:prstGeom prst="roundRect">
            <a:avLst>
              <a:gd name="adj" fmla="val 393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43400" y="1609344"/>
            <a:ext cx="7004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세계수 채집  →  매번 랜덤 드롭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26280" y="1993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드롭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2628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4" name="Image 1" descr="img/woo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2395728"/>
            <a:ext cx="868680" cy="868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통나무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17" name="Image 2" descr="img/card_fairyHerb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2395728"/>
            <a:ext cx="868680" cy="868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요정허브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498080" y="260604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E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75320" y="228600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7F1E1"/>
          </a:solidFill>
          <a:ln w="25400">
            <a:solidFill>
              <a:srgbClr val="E0A23A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pic>
        <p:nvPicPr>
          <p:cNvPr id="21" name="Image 3" descr="img/card_fairySou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49640" y="2395728"/>
            <a:ext cx="868680" cy="868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3310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 스프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829800" y="254203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요정허브로 만드는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카드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069080" y="4453128"/>
            <a:ext cx="7552944" cy="1645920"/>
          </a:xfrm>
          <a:prstGeom prst="roundRect">
            <a:avLst>
              <a:gd name="adj" fmla="val 6667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361688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추가했나?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361688" y="5010912"/>
            <a:ext cx="6967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카드의 종류가 부족했던 상황에서, 플레이어에게 새로운 음식 공급원이자 하나의 즐길 거리(콘텐츠)를 제공하고자 — 세계수 → 요정허브 → 요정 스프로 이어지는 채집·제작 경로를 추가했다.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29" name="Text 23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DIFFERENTIATOR ④  ·  레퍼런스와 다른 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레시피별 맞춤 이펙트 연출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4114800" cy="4617720"/>
          </a:xfrm>
          <a:prstGeom prst="roundRect">
            <a:avLst>
              <a:gd name="adj" fmla="val 2667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작업마다 다른 ‘손맛’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33172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스택해 작업할 때, 진행 중인 작업 종류에 맞는 전용 파티클 이펙트가 카드 위에서 재생된다.</a:t>
            </a:r>
            <a:endParaRPr lang="en-US" sz="14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방식</a:t>
            </a:r>
            <a:endParaRPr lang="en-US" sz="14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레시피·채집 데이터마다 effectPrefab 을 지정 → ProgressTask 가 작업 중 해당 이펙트를 생성</a:t>
            </a:r>
            <a:endParaRPr lang="en-US" sz="14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차별점인가</a:t>
            </a:r>
            <a:endParaRPr lang="en-US" sz="14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진행 바를 넘어 — 무슨 작업인지 한눈에 보이고, 타격감과 게임의 생동감을 더한다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148132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9784" y="1847088"/>
            <a:ext cx="1371600" cy="1371600"/>
          </a:xfrm>
          <a:prstGeom prst="ellipse">
            <a:avLst/>
          </a:prstGeom>
          <a:solidFill>
            <a:srgbClr val="DCE7CE"/>
          </a:solidFill>
          <a:ln/>
        </p:spPr>
      </p:sp>
      <p:pic>
        <p:nvPicPr>
          <p:cNvPr id="11" name="Image 0" descr="img/card_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2048256"/>
            <a:ext cx="932688" cy="9326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0" y="186537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나무 채집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75120" y="237744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도끼로 패듯 나무 조각이 사방으로 흩뿌려진다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394192" y="148132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31936" y="1847088"/>
            <a:ext cx="1371600" cy="1371600"/>
          </a:xfrm>
          <a:prstGeom prst="ellipse">
            <a:avLst/>
          </a:prstGeom>
          <a:solidFill>
            <a:srgbClr val="E6E1D4"/>
          </a:solidFill>
          <a:ln/>
        </p:spPr>
      </p:sp>
      <p:pic>
        <p:nvPicPr>
          <p:cNvPr id="16" name="Image 1" descr="img/card_ro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51392" y="2048256"/>
            <a:ext cx="932688" cy="9326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177272" y="186537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B64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 캐기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0177272" y="237744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단단한 돌 조각이 튀어 오른다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892040" y="390448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29784" y="4270248"/>
            <a:ext cx="1371600" cy="1371600"/>
          </a:xfrm>
          <a:prstGeom prst="ellipse">
            <a:avLst/>
          </a:prstGeom>
          <a:solidFill>
            <a:srgbClr val="D8EBD0"/>
          </a:solidFill>
          <a:ln/>
        </p:spPr>
      </p:sp>
      <p:pic>
        <p:nvPicPr>
          <p:cNvPr id="21" name="Image 2" descr="img/berry-bus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49240" y="4471416"/>
            <a:ext cx="932688" cy="932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428853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열매 채집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675120" y="4800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덤불에서 잎과 열매가 흩날린다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394192" y="3904488"/>
            <a:ext cx="3227832" cy="2194560"/>
          </a:xfrm>
          <a:prstGeom prst="roundRect">
            <a:avLst>
              <a:gd name="adj" fmla="val 5000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631936" y="4270248"/>
            <a:ext cx="1371600" cy="1371600"/>
          </a:xfrm>
          <a:prstGeom prst="ellipse">
            <a:avLst/>
          </a:prstGeom>
          <a:solidFill>
            <a:srgbClr val="EDE3D0"/>
          </a:solidFill>
          <a:ln/>
        </p:spPr>
      </p:sp>
      <p:pic>
        <p:nvPicPr>
          <p:cNvPr id="26" name="Image 3" descr="img/card_hous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51392" y="4471416"/>
            <a:ext cx="932688" cy="9326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77272" y="428853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C6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건설 · 제작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10177272" y="4800600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완성을 알리는 제작 연출이 피어난다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1" name="Text 25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· 설계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5448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4A6535"/>
          </a:solidFill>
          <a:ln/>
        </p:spPr>
      </p:sp>
      <p:sp>
        <p:nvSpPr>
          <p:cNvPr id="8" name="Shape 6"/>
          <p:cNvSpPr/>
          <p:nvPr/>
        </p:nvSpPr>
        <p:spPr>
          <a:xfrm>
            <a:off x="2212848" y="1554480"/>
            <a:ext cx="457200" cy="1298448"/>
          </a:xfrm>
          <a:prstGeom prst="rect">
            <a:avLst/>
          </a:prstGeom>
          <a:solidFill>
            <a:srgbClr val="4A65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470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 계층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Singleton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5292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881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881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DayManager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470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470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70598" y="1737360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0598" y="1737360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RecipeManager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5292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EnemyManager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881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881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SoundManager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470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470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SettlementManager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70598" y="2249424"/>
            <a:ext cx="126873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4A65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0598" y="2249424"/>
            <a:ext cx="1268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InputManager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035808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3035808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0A23A"/>
          </a:solidFill>
          <a:ln/>
        </p:spPr>
      </p:sp>
      <p:sp>
        <p:nvSpPr>
          <p:cNvPr id="29" name="Shape 27"/>
          <p:cNvSpPr/>
          <p:nvPr/>
        </p:nvSpPr>
        <p:spPr>
          <a:xfrm>
            <a:off x="2212848" y="3035808"/>
            <a:ext cx="457200" cy="1298448"/>
          </a:xfrm>
          <a:prstGeom prst="rect">
            <a:avLst/>
          </a:prstGeom>
          <a:solidFill>
            <a:srgbClr val="E0A2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3284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계층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3152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ScriptableObject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85292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5292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VillagerCardData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01968" y="3218688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2186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EnemyCardData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5292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5292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CardRecipe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2744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CardPackData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01968" y="373075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3730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WeatherType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4517136"/>
            <a:ext cx="7955280" cy="1298448"/>
          </a:xfrm>
          <a:prstGeom prst="roundRect">
            <a:avLst>
              <a:gd name="adj" fmla="val 7042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6928" y="4517136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8FAE55"/>
          </a:solidFill>
          <a:ln/>
        </p:spPr>
      </p:sp>
      <p:sp>
        <p:nvSpPr>
          <p:cNvPr id="46" name="Shape 44"/>
          <p:cNvSpPr/>
          <p:nvPr/>
        </p:nvSpPr>
        <p:spPr>
          <a:xfrm>
            <a:off x="2212848" y="4517136"/>
            <a:ext cx="457200" cy="1298448"/>
          </a:xfrm>
          <a:prstGeom prst="rect">
            <a:avLst/>
          </a:prstGeom>
          <a:solidFill>
            <a:srgbClr val="8FAE55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48097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 · UI · 런타임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731520" y="5230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MonoBehaviour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5292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5292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/ VillagerCard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2744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CardStack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01968" y="4700016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01968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ProgressTask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852928" y="521208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52928" y="5212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ResourceCardUI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27448" y="521208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F7F1E1"/>
          </a:solidFill>
          <a:ln w="12700">
            <a:solidFill>
              <a:srgbClr val="8FAE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27448" y="5212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UI_Ingame / RecipeBook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750808" y="1554480"/>
            <a:ext cx="2871216" cy="4078224"/>
          </a:xfrm>
          <a:prstGeom prst="roundRect">
            <a:avLst>
              <a:gd name="adj" fmla="val 3822"/>
            </a:avLst>
          </a:prstGeom>
          <a:solidFill>
            <a:srgbClr val="38492A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750808" y="178308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포인트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9025128" y="2240280"/>
            <a:ext cx="236829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 결합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OnDayChanged · OnWeatherDetermined 으로 매니저 간 느슨한 연결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코루틴 비동기 흐름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웨이브 · 룰렛 · 세이브 복원을 코루틴으로 단계 실행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주도 콘텐츠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카드·레시피·팩을 에셋으로 정의해 코드와 분리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64" name="Text 62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TECHNOLOGY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기술 2가지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4A6535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03120"/>
            <a:ext cx="5440680" cy="502920"/>
          </a:xfrm>
          <a:prstGeom prst="rect">
            <a:avLst/>
          </a:prstGeom>
          <a:solidFill>
            <a:srgbClr val="4A6535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737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DB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09928" y="17190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 데이터 기반 설계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Data-Driven Design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28803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✓"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카드 · 레시피 · 카드팩 · 적 · 날씨를 에디터에서 편집하는 에셋으로 정의</a:t>
            </a:r>
            <a:endParaRPr lang="en-US" sz="13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컴파일 없이 스탯 · 조합 · 확률을 즉시 조정 → 빠른 밸런싱</a:t>
            </a:r>
            <a:endParaRPr lang="en-US" sz="13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 타입 추가 시 기존 로직 영향 최소화 (확장성)</a:t>
            </a:r>
            <a:endParaRPr lang="en-US" sz="13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CardRecipe 를 게임 로직과 레시피북 UI 가 공유 (재사용)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81928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114300" dist="50800" dir="5400000">
              <a:srgbClr val="3A3A2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1928" y="155448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8C623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81928" y="2103120"/>
            <a:ext cx="5440680" cy="502920"/>
          </a:xfrm>
          <a:prstGeom prst="rect">
            <a:avLst/>
          </a:prstGeom>
          <a:solidFill>
            <a:srgbClr val="8C6239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17373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424928" y="17190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고유 스택 관리 시스템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3E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Card Stacking System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47688" y="28803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✓"/>
            </a:pPr>
            <a:r>
              <a:rPr lang="en-US" sz="13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더미마다 고유한 CardStack 객체가 카드 목록을 계단식으로 정렬·관리</a:t>
            </a:r>
            <a:endParaRPr lang="en-US" sz="13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집으면 그 위 카드를 분리(Split), 놓으면 주변 스택을 검사해 가장 가까운 더미에 병합(Merge)</a:t>
            </a:r>
            <a:endParaRPr lang="en-US" sz="13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카드끼리는 자동 스택 · 물리 검사로 겹친 더미는 서로 밀어내 정리</a:t>
            </a:r>
            <a:endParaRPr lang="en-US" sz="13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제약 규칙: 주민은 항상 최상단, 적·얼린 카드 더미는 병합 제외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20" name="Text 18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A6535"/>
          </a:solidFill>
          <a:ln/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16736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REFACTORING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98448" y="658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변경된 구조 · 구현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608" y="1801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시스템 전환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35608" y="22037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InputManager → Unity PlayerInput System 으로 교체해 입력 처리를 표준화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16002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04888" y="1801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 구조 개편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04888" y="22037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카드팩 구현 중 카드/데이터 구조를 재정비 (커밋: ‘코드 구조개편’)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34015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채집물 구조 변경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35608" y="38039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드랍 아이템 도입과 함께 채집 결과물 처리 구조를 재설계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04888" y="34015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 결과 랜덤화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04888" y="38039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보상 → 확률 기반 랜덤 보상 시스템으로 변경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8006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35608" y="5001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최대 개수 제약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435608" y="54041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최대 수 도입 + 창고(Storage) 카드 보유 시 상한 증가 규칙 추가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36208" y="48006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F8EE"/>
          </a:solidFill>
          <a:ln w="12700">
            <a:solidFill>
              <a:srgbClr val="C2D0AE"/>
            </a:solidFill>
            <a:prstDash val="solid"/>
          </a:ln>
          <a:effectLst>
            <a:outerShdw sx="100000" sy="100000" kx="0" ky="0" algn="bl" rotWithShape="0" blurRad="88900" dist="38100" dir="5400000">
              <a:srgbClr val="3A3A2A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0" y="5257800"/>
            <a:ext cx="457200" cy="457200"/>
          </a:xfrm>
          <a:prstGeom prst="ellipse">
            <a:avLst/>
          </a:prstGeom>
          <a:solidFill>
            <a:srgbClr val="C266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04888" y="5001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3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렌더링·저장 보강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104888" y="54041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URP 도입으로 이펙트 강화, 후반 세이브 시스템 추가에 맞춰 매니저 지속 보강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65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JellyStack</a:t>
            </a:r>
            <a:pPr algn="l" indent="0" marL="0">
              <a:buNone/>
            </a:pPr>
            <a:r>
              <a:rPr lang="en-US" sz="900" dirty="0">
                <a:solidFill>
                  <a:srgbClr val="6B6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카드 스태킹 생존 경영 게임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183112" y="6437376"/>
            <a:ext cx="201168" cy="201168"/>
          </a:xfrm>
          <a:prstGeom prst="ellipse">
            <a:avLst/>
          </a:prstGeom>
          <a:solidFill>
            <a:srgbClr val="8FAE55"/>
          </a:solidFill>
          <a:ln/>
        </p:spPr>
      </p:sp>
      <p:sp>
        <p:nvSpPr>
          <p:cNvPr id="38" name="Text 36"/>
          <p:cNvSpPr/>
          <p:nvPr/>
        </p:nvSpPr>
        <p:spPr>
          <a:xfrm>
            <a:off x="11183112" y="64282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8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8492A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331720"/>
            <a:ext cx="12188952" cy="2240280"/>
          </a:xfrm>
          <a:prstGeom prst="rect">
            <a:avLst/>
          </a:prstGeom>
          <a:solidFill>
            <a:srgbClr val="38492A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5400000">
              <a:srgbClr val="1C2415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3EB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JellyStack</a:t>
            </a:r>
            <a:pPr algn="ctr" indent="0" marL="0">
              <a:buNone/>
            </a:pPr>
            <a:r>
              <a:rPr lang="en-US" sz="1800" dirty="0">
                <a:solidFill>
                  <a:srgbClr val="E7DE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카드 스태킹 생존 경영 게임   ·   Build 0.3.0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김지해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JellyStack 프로젝트 발표</dc:title>
  <dc:subject>PptxGenJS Presentation</dc:subject>
  <dc:creator>김지해</dc:creator>
  <cp:lastModifiedBy>김지해</cp:lastModifiedBy>
  <cp:revision>1</cp:revision>
  <dcterms:created xsi:type="dcterms:W3CDTF">2026-06-07T19:12:14Z</dcterms:created>
  <dcterms:modified xsi:type="dcterms:W3CDTF">2026-06-07T19:12:14Z</dcterms:modified>
</cp:coreProperties>
</file>